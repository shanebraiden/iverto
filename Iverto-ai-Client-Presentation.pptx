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Iverto.ai replaces the paper outpass slip with one app used by three different people: the student who asks, the guardian who approves, and the warden who clears and closes it. Everything you will see today is running software, not a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failures, and they are all the same failure: the process leaves no trace. Everything Iverto does follows from fixing that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one shared record. And note the point at the bottom — role is a property of the account, set by the office. It is not something a user selects.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product. Five steps the user sees; fifteen states underneath so that the awkward cases — no answer, unreachable, expired, cancelled — each have a name rather than being left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dwelling on the first point with a client: there is no self-registration, so the app can never contain a person your office did not put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on this screen: the student should never have to interpret anything. Every status is written as a sentence about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commercial point here is the first one: categories and their rules are configuration, not code. A campus with different rules does not need a different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out the "talk to the warden" button. In the paper process, an unsure parent means an unanswered phone. Here it becomes an explicit, tracked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draws the privacy question, so answer it before it is asked: location is opt-in, foreground-only, and there is no background tracking in the app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compliance question. If an incident is investigated six months later, the whole sequence is here with names and timestamps.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here: an outpass system is not really about outpasses. It is about being able to say, credibly, what was known and who was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value of the live connection is that a parent and a child on the phone together see the same thing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 deadline is a genuine differentiator — a lot of campus apps in the market will stop receiving updates this year because they have not made this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rather than waiting to be asked. Parents raise it, and a clear answer here does more for adoption than any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the QR pass reads as engineering discipline rather than a gap — we would rather have no code than a code that can be screenshotted and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step is the one to emphasise. It de-risks the decision: one block, two weeks,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 two-week pilot in one block.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image" Target="../media/image-15-3.png"/><Relationship Id="rId6" Type="http://schemas.openxmlformats.org/officeDocument/2006/relationships/image" Target="../media/image-15-3.png"/><Relationship Id="rId7" Type="http://schemas.openxmlformats.org/officeDocument/2006/relationships/image" Target="../media/image-15-3.png"/><Relationship Id="rId8" Type="http://schemas.openxmlformats.org/officeDocument/2006/relationships/image" Target="../media/image-15-3.png"/><Relationship Id="rId9" Type="http://schemas.openxmlformats.org/officeDocument/2006/relationships/image" Target="../media/image-15-3.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image" Target="../media/image-17-3.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deck/bg-dark.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white.png">    </p:cNvPr>
          <p:cNvPicPr>
            <a:picLocks noChangeAspect="1"/>
          </p:cNvPicPr>
          <p:nvPr/>
        </p:nvPicPr>
        <p:blipFill>
          <a:blip r:embed="rId2"/>
          <a:stretch>
            <a:fillRect/>
          </a:stretch>
        </p:blipFill>
        <p:spPr>
          <a:xfrm>
            <a:off x="868680" y="1481328"/>
            <a:ext cx="1051560" cy="1051560"/>
          </a:xfrm>
          <a:prstGeom prst="rect">
            <a:avLst/>
          </a:prstGeom>
        </p:spPr>
      </p:pic>
      <p:sp>
        <p:nvSpPr>
          <p:cNvPr id="4" name="Text 0"/>
          <p:cNvSpPr txBox="1"/>
          <p:nvPr/>
        </p:nvSpPr>
        <p:spPr>
          <a:xfrm>
            <a:off x="822960" y="2697480"/>
            <a:ext cx="7315200" cy="86868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Iverto</a:t>
            </a:r>
            <a:pPr indent="0" marL="0">
              <a:buNone/>
            </a:pPr>
            <a:r>
              <a:rPr lang="en-US" sz="6000" b="1" dirty="0">
                <a:solidFill>
                  <a:srgbClr val="FF5A66"/>
                </a:solidFill>
                <a:latin typeface="Calibri" pitchFamily="34" charset="0"/>
                <a:ea typeface="Calibri" pitchFamily="34" charset="-122"/>
                <a:cs typeface="Calibri" pitchFamily="34" charset="-120"/>
              </a:rPr>
              <a:t>.ai</a:t>
            </a:r>
            <a:endParaRPr lang="en-US" sz="6000" dirty="0"/>
          </a:p>
        </p:txBody>
      </p:sp>
      <p:sp>
        <p:nvSpPr>
          <p:cNvPr id="5" name="Text 1"/>
          <p:cNvSpPr txBox="1"/>
          <p:nvPr/>
        </p:nvSpPr>
        <p:spPr>
          <a:xfrm>
            <a:off x="868680" y="3584448"/>
            <a:ext cx="7680960" cy="457200"/>
          </a:xfrm>
          <a:prstGeom prst="rect">
            <a:avLst/>
          </a:prstGeom>
          <a:noFill/>
          <a:ln/>
        </p:spPr>
        <p:txBody>
          <a:bodyPr wrap="square" lIns="0" tIns="0" rIns="0" bIns="0" rtlCol="0" anchor="ctr"/>
          <a:lstStyle/>
          <a:p>
            <a:pPr indent="0" marL="0">
              <a:buNone/>
            </a:pPr>
            <a:r>
              <a:rPr lang="en-US" sz="2500" dirty="0">
                <a:solidFill>
                  <a:srgbClr val="F4D3D5"/>
                </a:solidFill>
                <a:latin typeface="Calibri" pitchFamily="34" charset="0"/>
                <a:ea typeface="Calibri" pitchFamily="34" charset="-122"/>
                <a:cs typeface="Calibri" pitchFamily="34" charset="-120"/>
              </a:rPr>
              <a:t>Hostel outpass, end to end.</a:t>
            </a:r>
            <a:endParaRPr lang="en-US" sz="2500" dirty="0"/>
          </a:p>
        </p:txBody>
      </p:sp>
      <p:sp>
        <p:nvSpPr>
          <p:cNvPr id="6" name="Text 2"/>
          <p:cNvSpPr txBox="1"/>
          <p:nvPr/>
        </p:nvSpPr>
        <p:spPr>
          <a:xfrm>
            <a:off x="868680" y="4114800"/>
            <a:ext cx="6949440" cy="822960"/>
          </a:xfrm>
          <a:prstGeom prst="rect">
            <a:avLst/>
          </a:prstGeom>
          <a:noFill/>
          <a:ln/>
        </p:spPr>
        <p:txBody>
          <a:bodyPr wrap="square" lIns="0" tIns="0" rIns="0" bIns="0" rtlCol="0" anchor="ctr"/>
          <a:lstStyle/>
          <a:p>
            <a:pPr indent="0" marL="0">
              <a:lnSpc>
                <a:spcPts val="2200"/>
              </a:lnSpc>
              <a:buNone/>
            </a:pPr>
            <a:r>
              <a:rPr lang="en-US" sz="1450" dirty="0">
                <a:solidFill>
                  <a:srgbClr val="C9C9CF"/>
                </a:solidFill>
                <a:latin typeface="Calibri" pitchFamily="34" charset="0"/>
                <a:ea typeface="Calibri" pitchFamily="34" charset="-122"/>
                <a:cs typeface="Calibri" pitchFamily="34" charset="-120"/>
              </a:rPr>
              <a:t>One app for students, guardians and wardens — a pass requested, approved and closed with a record of every step.</a:t>
            </a:r>
            <a:endParaRPr lang="en-US" sz="1450" dirty="0"/>
          </a:p>
        </p:txBody>
      </p:sp>
      <p:pic>
        <p:nvPicPr>
          <p:cNvPr id="7" name="Image 2" descr="/home/claude/deck/mock/student-home.png">    </p:cNvPr>
          <p:cNvPicPr>
            <a:picLocks noChangeAspect="1"/>
          </p:cNvPicPr>
          <p:nvPr/>
        </p:nvPicPr>
        <p:blipFill>
          <a:blip r:embed="rId3"/>
          <a:stretch>
            <a:fillRect/>
          </a:stretch>
        </p:blipFill>
        <p:spPr>
          <a:xfrm>
            <a:off x="8549640" y="685800"/>
            <a:ext cx="2788920" cy="5715000"/>
          </a:xfrm>
          <a:prstGeom prst="rect">
            <a:avLst/>
          </a:prstGeom>
        </p:spPr>
      </p:pic>
      <p:sp>
        <p:nvSpPr>
          <p:cNvPr id="8" name="Text 3"/>
          <p:cNvSpPr txBox="1"/>
          <p:nvPr/>
        </p:nvSpPr>
        <p:spPr>
          <a:xfrm>
            <a:off x="868680" y="5989320"/>
            <a:ext cx="5486400" cy="292608"/>
          </a:xfrm>
          <a:prstGeom prst="rect">
            <a:avLst/>
          </a:prstGeom>
          <a:noFill/>
          <a:ln/>
        </p:spPr>
        <p:txBody>
          <a:bodyPr wrap="square" lIns="0" tIns="0" rIns="0" bIns="0" rtlCol="0" anchor="ctr"/>
          <a:lstStyle/>
          <a:p>
            <a:pPr indent="0" marL="0">
              <a:buNone/>
            </a:pPr>
            <a:r>
              <a:rPr lang="en-US" sz="1150" dirty="0">
                <a:solidFill>
                  <a:srgbClr val="8A8A93"/>
                </a:solidFill>
                <a:latin typeface="Calibri" pitchFamily="34" charset="0"/>
                <a:ea typeface="Calibri" pitchFamily="34" charset="-122"/>
                <a:cs typeface="Calibri" pitchFamily="34" charset="-120"/>
              </a:rPr>
              <a:t>Prepared for client review  ·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THE SITUATION TODAY</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A paper slip cannot answer the questions that matter</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When a student leaves campus, four people need to agree and one office has to prove it happened.</a:t>
            </a:r>
            <a:endParaRPr lang="en-US" sz="1450" dirty="0"/>
          </a:p>
        </p:txBody>
      </p:sp>
      <p:sp>
        <p:nvSpPr>
          <p:cNvPr id="7" name="Shape 3"/>
          <p:cNvSpPr/>
          <p:nvPr/>
        </p:nvSpPr>
        <p:spPr>
          <a:xfrm>
            <a:off x="685800" y="1920240"/>
            <a:ext cx="10789920" cy="1024128"/>
          </a:xfrm>
          <a:prstGeom prst="roundRect">
            <a:avLst>
              <a:gd name="adj" fmla="val 14286"/>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14400" y="2121408"/>
            <a:ext cx="621792" cy="621792"/>
          </a:xfrm>
          <a:prstGeom prst="roundRect">
            <a:avLst>
              <a:gd name="adj" fmla="val 20588"/>
            </a:avLst>
          </a:prstGeom>
          <a:solidFill>
            <a:srgbClr val="FDEBEB"/>
          </a:solidFill>
          <a:ln w="12700">
            <a:solidFill>
              <a:srgbClr val="FDEBEB"/>
            </a:solidFill>
            <a:prstDash val="solid"/>
          </a:ln>
        </p:spPr>
      </p:sp>
      <p:pic>
        <p:nvPicPr>
          <p:cNvPr id="9" name="Image 2" descr="/home/claude/deck/icons/phone-d.png">    </p:cNvPr>
          <p:cNvPicPr>
            <a:picLocks noChangeAspect="1"/>
          </p:cNvPicPr>
          <p:nvPr/>
        </p:nvPicPr>
        <p:blipFill>
          <a:blip r:embed="rId3"/>
          <a:stretch>
            <a:fillRect/>
          </a:stretch>
        </p:blipFill>
        <p:spPr>
          <a:xfrm>
            <a:off x="1076066" y="2283074"/>
            <a:ext cx="298460" cy="298460"/>
          </a:xfrm>
          <a:prstGeom prst="rect">
            <a:avLst/>
          </a:prstGeom>
        </p:spPr>
      </p:pic>
      <p:sp>
        <p:nvSpPr>
          <p:cNvPr id="10" name="Text 5"/>
          <p:cNvSpPr txBox="1"/>
          <p:nvPr/>
        </p:nvSpPr>
        <p:spPr>
          <a:xfrm>
            <a:off x="1719072" y="2103120"/>
            <a:ext cx="941832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approval happens over the phone</a:t>
            </a:r>
            <a:endParaRPr lang="en-US" sz="1600" dirty="0"/>
          </a:p>
        </p:txBody>
      </p:sp>
      <p:sp>
        <p:nvSpPr>
          <p:cNvPr id="11" name="Text 6"/>
          <p:cNvSpPr txBox="1"/>
          <p:nvPr/>
        </p:nvSpPr>
        <p:spPr>
          <a:xfrm>
            <a:off x="1719072" y="2423160"/>
            <a:ext cx="9418320" cy="402336"/>
          </a:xfrm>
          <a:prstGeom prst="rect">
            <a:avLst/>
          </a:prstGeom>
          <a:noFill/>
          <a:ln/>
        </p:spPr>
        <p:txBody>
          <a:bodyPr wrap="square" lIns="0" tIns="0" rIns="0" bIns="0" rtlCol="0" anchor="ctr"/>
          <a:lstStyle/>
          <a:p>
            <a:pPr indent="0" marL="0">
              <a:buNone/>
            </a:pPr>
            <a:r>
              <a:rPr lang="en-US" sz="1250" dirty="0">
                <a:solidFill>
                  <a:srgbClr val="6B6B76"/>
                </a:solidFill>
                <a:latin typeface="Calibri" pitchFamily="34" charset="0"/>
                <a:ea typeface="Calibri" pitchFamily="34" charset="-122"/>
                <a:cs typeface="Calibri" pitchFamily="34" charset="-120"/>
              </a:rPr>
              <a:t>A warden calls a parent, or takes the student’s word that the call was made. Nothing about it is written down.</a:t>
            </a:r>
            <a:endParaRPr lang="en-US" sz="1250" dirty="0"/>
          </a:p>
        </p:txBody>
      </p:sp>
      <p:sp>
        <p:nvSpPr>
          <p:cNvPr id="12" name="Shape 7"/>
          <p:cNvSpPr/>
          <p:nvPr/>
        </p:nvSpPr>
        <p:spPr>
          <a:xfrm>
            <a:off x="685800" y="3090672"/>
            <a:ext cx="10789920" cy="1024128"/>
          </a:xfrm>
          <a:prstGeom prst="roundRect">
            <a:avLst>
              <a:gd name="adj" fmla="val 14286"/>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8"/>
          <p:cNvSpPr/>
          <p:nvPr/>
        </p:nvSpPr>
        <p:spPr>
          <a:xfrm>
            <a:off x="914400" y="3291840"/>
            <a:ext cx="621792" cy="621792"/>
          </a:xfrm>
          <a:prstGeom prst="roundRect">
            <a:avLst>
              <a:gd name="adj" fmla="val 20588"/>
            </a:avLst>
          </a:prstGeom>
          <a:solidFill>
            <a:srgbClr val="FDEBEB"/>
          </a:solidFill>
          <a:ln w="12700">
            <a:solidFill>
              <a:srgbClr val="FDEBEB"/>
            </a:solidFill>
            <a:prstDash val="solid"/>
          </a:ln>
        </p:spPr>
      </p:sp>
      <p:pic>
        <p:nvPicPr>
          <p:cNvPr id="14" name="Image 3" descr="/home/claude/deck/icons/file-d.png">    </p:cNvPr>
          <p:cNvPicPr>
            <a:picLocks noChangeAspect="1"/>
          </p:cNvPicPr>
          <p:nvPr/>
        </p:nvPicPr>
        <p:blipFill>
          <a:blip r:embed="rId4"/>
          <a:stretch>
            <a:fillRect/>
          </a:stretch>
        </p:blipFill>
        <p:spPr>
          <a:xfrm>
            <a:off x="1076066" y="3453506"/>
            <a:ext cx="298460" cy="298460"/>
          </a:xfrm>
          <a:prstGeom prst="rect">
            <a:avLst/>
          </a:prstGeom>
        </p:spPr>
      </p:pic>
      <p:sp>
        <p:nvSpPr>
          <p:cNvPr id="15" name="Text 9"/>
          <p:cNvSpPr txBox="1"/>
          <p:nvPr/>
        </p:nvSpPr>
        <p:spPr>
          <a:xfrm>
            <a:off x="1719072" y="3273552"/>
            <a:ext cx="941832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record is a book at the gate</a:t>
            </a:r>
            <a:endParaRPr lang="en-US" sz="1600" dirty="0"/>
          </a:p>
        </p:txBody>
      </p:sp>
      <p:sp>
        <p:nvSpPr>
          <p:cNvPr id="16" name="Text 10"/>
          <p:cNvSpPr txBox="1"/>
          <p:nvPr/>
        </p:nvSpPr>
        <p:spPr>
          <a:xfrm>
            <a:off x="1719072" y="3593592"/>
            <a:ext cx="9418320" cy="402336"/>
          </a:xfrm>
          <a:prstGeom prst="rect">
            <a:avLst/>
          </a:prstGeom>
          <a:noFill/>
          <a:ln/>
        </p:spPr>
        <p:txBody>
          <a:bodyPr wrap="square" lIns="0" tIns="0" rIns="0" bIns="0" rtlCol="0" anchor="ctr"/>
          <a:lstStyle/>
          <a:p>
            <a:pPr indent="0" marL="0">
              <a:buNone/>
            </a:pPr>
            <a:r>
              <a:rPr lang="en-US" sz="1250" dirty="0">
                <a:solidFill>
                  <a:srgbClr val="6B6B76"/>
                </a:solidFill>
                <a:latin typeface="Calibri" pitchFamily="34" charset="0"/>
                <a:ea typeface="Calibri" pitchFamily="34" charset="-122"/>
                <a:cs typeface="Calibri" pitchFamily="34" charset="-120"/>
              </a:rPr>
              <a:t>Finding one entry from three weeks ago means reading pages. Producing a term’s figures means counting them by hand.</a:t>
            </a:r>
            <a:endParaRPr lang="en-US" sz="1250" dirty="0"/>
          </a:p>
        </p:txBody>
      </p:sp>
      <p:sp>
        <p:nvSpPr>
          <p:cNvPr id="17" name="Shape 11"/>
          <p:cNvSpPr/>
          <p:nvPr/>
        </p:nvSpPr>
        <p:spPr>
          <a:xfrm>
            <a:off x="685800" y="4261104"/>
            <a:ext cx="10789920" cy="1024128"/>
          </a:xfrm>
          <a:prstGeom prst="roundRect">
            <a:avLst>
              <a:gd name="adj" fmla="val 14286"/>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2"/>
          <p:cNvSpPr/>
          <p:nvPr/>
        </p:nvSpPr>
        <p:spPr>
          <a:xfrm>
            <a:off x="914400" y="4462272"/>
            <a:ext cx="621792" cy="621792"/>
          </a:xfrm>
          <a:prstGeom prst="roundRect">
            <a:avLst>
              <a:gd name="adj" fmla="val 20588"/>
            </a:avLst>
          </a:prstGeom>
          <a:solidFill>
            <a:srgbClr val="FDEBEB"/>
          </a:solidFill>
          <a:ln w="12700">
            <a:solidFill>
              <a:srgbClr val="FDEBEB"/>
            </a:solidFill>
            <a:prstDash val="solid"/>
          </a:ln>
        </p:spPr>
      </p:sp>
      <p:pic>
        <p:nvPicPr>
          <p:cNvPr id="19" name="Image 4" descr="/home/claude/deck/icons/clock-d.png">    </p:cNvPr>
          <p:cNvPicPr>
            <a:picLocks noChangeAspect="1"/>
          </p:cNvPicPr>
          <p:nvPr/>
        </p:nvPicPr>
        <p:blipFill>
          <a:blip r:embed="rId5"/>
          <a:stretch>
            <a:fillRect/>
          </a:stretch>
        </p:blipFill>
        <p:spPr>
          <a:xfrm>
            <a:off x="1076066" y="4623938"/>
            <a:ext cx="298460" cy="298460"/>
          </a:xfrm>
          <a:prstGeom prst="rect">
            <a:avLst/>
          </a:prstGeom>
        </p:spPr>
      </p:pic>
      <p:sp>
        <p:nvSpPr>
          <p:cNvPr id="20" name="Text 13"/>
          <p:cNvSpPr txBox="1"/>
          <p:nvPr/>
        </p:nvSpPr>
        <p:spPr>
          <a:xfrm>
            <a:off x="1719072" y="4443984"/>
            <a:ext cx="941832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parent finds out afterwards</a:t>
            </a:r>
            <a:endParaRPr lang="en-US" sz="1600" dirty="0"/>
          </a:p>
        </p:txBody>
      </p:sp>
      <p:sp>
        <p:nvSpPr>
          <p:cNvPr id="21" name="Text 14"/>
          <p:cNvSpPr txBox="1"/>
          <p:nvPr/>
        </p:nvSpPr>
        <p:spPr>
          <a:xfrm>
            <a:off x="1719072" y="4764024"/>
            <a:ext cx="9418320" cy="402336"/>
          </a:xfrm>
          <a:prstGeom prst="rect">
            <a:avLst/>
          </a:prstGeom>
          <a:noFill/>
          <a:ln/>
        </p:spPr>
        <p:txBody>
          <a:bodyPr wrap="square" lIns="0" tIns="0" rIns="0" bIns="0" rtlCol="0" anchor="ctr"/>
          <a:lstStyle/>
          <a:p>
            <a:pPr indent="0" marL="0">
              <a:buNone/>
            </a:pPr>
            <a:r>
              <a:rPr lang="en-US" sz="1250" dirty="0">
                <a:solidFill>
                  <a:srgbClr val="6B6B76"/>
                </a:solidFill>
                <a:latin typeface="Calibri" pitchFamily="34" charset="0"/>
                <a:ea typeface="Calibri" pitchFamily="34" charset="-122"/>
                <a:cs typeface="Calibri" pitchFamily="34" charset="-120"/>
              </a:rPr>
              <a:t>A guardian learns their child left campus when the child tells them — or when something has already gone wrong.</a:t>
            </a:r>
            <a:endParaRPr lang="en-US" sz="1250" dirty="0"/>
          </a:p>
        </p:txBody>
      </p:sp>
      <p:sp>
        <p:nvSpPr>
          <p:cNvPr id="22" name="Shape 15"/>
          <p:cNvSpPr/>
          <p:nvPr/>
        </p:nvSpPr>
        <p:spPr>
          <a:xfrm>
            <a:off x="685800" y="5431536"/>
            <a:ext cx="10789920" cy="1024128"/>
          </a:xfrm>
          <a:prstGeom prst="roundRect">
            <a:avLst>
              <a:gd name="adj" fmla="val 14286"/>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Shape 16"/>
          <p:cNvSpPr/>
          <p:nvPr/>
        </p:nvSpPr>
        <p:spPr>
          <a:xfrm>
            <a:off x="914400" y="5632704"/>
            <a:ext cx="621792" cy="621792"/>
          </a:xfrm>
          <a:prstGeom prst="roundRect">
            <a:avLst>
              <a:gd name="adj" fmla="val 20588"/>
            </a:avLst>
          </a:prstGeom>
          <a:solidFill>
            <a:srgbClr val="FDEBEB"/>
          </a:solidFill>
          <a:ln w="12700">
            <a:solidFill>
              <a:srgbClr val="FDEBEB"/>
            </a:solidFill>
            <a:prstDash val="solid"/>
          </a:ln>
        </p:spPr>
      </p:sp>
      <p:pic>
        <p:nvPicPr>
          <p:cNvPr id="24" name="Image 5" descr="/home/claude/deck/icons/warn-d.png">    </p:cNvPr>
          <p:cNvPicPr>
            <a:picLocks noChangeAspect="1"/>
          </p:cNvPicPr>
          <p:nvPr/>
        </p:nvPicPr>
        <p:blipFill>
          <a:blip r:embed="rId6"/>
          <a:stretch>
            <a:fillRect/>
          </a:stretch>
        </p:blipFill>
        <p:spPr>
          <a:xfrm>
            <a:off x="1076066" y="5794370"/>
            <a:ext cx="298460" cy="298460"/>
          </a:xfrm>
          <a:prstGeom prst="rect">
            <a:avLst/>
          </a:prstGeom>
        </p:spPr>
      </p:pic>
      <p:sp>
        <p:nvSpPr>
          <p:cNvPr id="25" name="Text 17"/>
          <p:cNvSpPr txBox="1"/>
          <p:nvPr/>
        </p:nvSpPr>
        <p:spPr>
          <a:xfrm>
            <a:off x="1719072" y="5614416"/>
            <a:ext cx="941832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Nobody owns the exception</a:t>
            </a:r>
            <a:endParaRPr lang="en-US" sz="1600" dirty="0"/>
          </a:p>
        </p:txBody>
      </p:sp>
      <p:sp>
        <p:nvSpPr>
          <p:cNvPr id="26" name="Text 18"/>
          <p:cNvSpPr txBox="1"/>
          <p:nvPr/>
        </p:nvSpPr>
        <p:spPr>
          <a:xfrm>
            <a:off x="1719072" y="5934456"/>
            <a:ext cx="9418320" cy="402336"/>
          </a:xfrm>
          <a:prstGeom prst="rect">
            <a:avLst/>
          </a:prstGeom>
          <a:noFill/>
          <a:ln/>
        </p:spPr>
        <p:txBody>
          <a:bodyPr wrap="square" lIns="0" tIns="0" rIns="0" bIns="0" rtlCol="0" anchor="ctr"/>
          <a:lstStyle/>
          <a:p>
            <a:pPr indent="0" marL="0">
              <a:buNone/>
            </a:pPr>
            <a:r>
              <a:rPr lang="en-US" sz="1250" dirty="0">
                <a:solidFill>
                  <a:srgbClr val="6B6B76"/>
                </a:solidFill>
                <a:latin typeface="Calibri" pitchFamily="34" charset="0"/>
                <a:ea typeface="Calibri" pitchFamily="34" charset="-122"/>
                <a:cs typeface="Calibri" pitchFamily="34" charset="-120"/>
              </a:rPr>
              <a:t>A late return, an unreachable parent, a pass used twice — each is handled by whoever happens to notice.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THE ANSWER</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One app. Three people. One record.</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The same pass, seen from wherever you stand — and closed only when the student is back.</a:t>
            </a:r>
            <a:endParaRPr lang="en-US" sz="1450" dirty="0"/>
          </a:p>
        </p:txBody>
      </p:sp>
      <p:sp>
        <p:nvSpPr>
          <p:cNvPr id="7" name="Shape 3"/>
          <p:cNvSpPr/>
          <p:nvPr/>
        </p:nvSpPr>
        <p:spPr>
          <a:xfrm>
            <a:off x="685800" y="1965960"/>
            <a:ext cx="3401568" cy="2331720"/>
          </a:xfrm>
          <a:prstGeom prst="roundRect">
            <a:avLst>
              <a:gd name="adj" fmla="val 627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1014984" y="2286000"/>
            <a:ext cx="731520" cy="731520"/>
          </a:xfrm>
          <a:prstGeom prst="roundRect">
            <a:avLst>
              <a:gd name="adj" fmla="val 17500"/>
            </a:avLst>
          </a:prstGeom>
          <a:solidFill>
            <a:srgbClr val="FCECED"/>
          </a:solidFill>
          <a:ln w="12700">
            <a:solidFill>
              <a:srgbClr val="FCECED"/>
            </a:solidFill>
            <a:prstDash val="solid"/>
          </a:ln>
        </p:spPr>
      </p:sp>
      <p:pic>
        <p:nvPicPr>
          <p:cNvPr id="9" name="Image 2" descr="/home/claude/deck/icons/sch-r.png">    </p:cNvPr>
          <p:cNvPicPr>
            <a:picLocks noChangeAspect="1"/>
          </p:cNvPicPr>
          <p:nvPr/>
        </p:nvPicPr>
        <p:blipFill>
          <a:blip r:embed="rId3"/>
          <a:stretch>
            <a:fillRect/>
          </a:stretch>
        </p:blipFill>
        <p:spPr>
          <a:xfrm>
            <a:off x="1205179" y="2476195"/>
            <a:ext cx="351130" cy="351130"/>
          </a:xfrm>
          <a:prstGeom prst="rect">
            <a:avLst/>
          </a:prstGeom>
        </p:spPr>
      </p:pic>
      <p:sp>
        <p:nvSpPr>
          <p:cNvPr id="10" name="Text 5"/>
          <p:cNvSpPr txBox="1"/>
          <p:nvPr/>
        </p:nvSpPr>
        <p:spPr>
          <a:xfrm>
            <a:off x="1014984" y="3182112"/>
            <a:ext cx="2743200" cy="310896"/>
          </a:xfrm>
          <a:prstGeom prst="rect">
            <a:avLst/>
          </a:prstGeom>
          <a:noFill/>
          <a:ln/>
        </p:spPr>
        <p:txBody>
          <a:bodyPr wrap="square" lIns="0" tIns="0" rIns="0" bIns="0" rtlCol="0" anchor="ctr"/>
          <a:lstStyle/>
          <a:p>
            <a:pPr indent="0" marL="0">
              <a:buNone/>
            </a:pPr>
            <a:r>
              <a:rPr lang="en-US" sz="1900" b="1" dirty="0">
                <a:solidFill>
                  <a:srgbClr val="18181B"/>
                </a:solidFill>
                <a:latin typeface="Calibri" pitchFamily="34" charset="0"/>
                <a:ea typeface="Calibri" pitchFamily="34" charset="-122"/>
                <a:cs typeface="Calibri" pitchFamily="34" charset="-120"/>
              </a:rPr>
              <a:t>The student</a:t>
            </a:r>
            <a:endParaRPr lang="en-US" sz="1900" dirty="0"/>
          </a:p>
        </p:txBody>
      </p:sp>
      <p:sp>
        <p:nvSpPr>
          <p:cNvPr id="11" name="Text 6"/>
          <p:cNvSpPr txBox="1"/>
          <p:nvPr/>
        </p:nvSpPr>
        <p:spPr>
          <a:xfrm>
            <a:off x="1014984" y="3529584"/>
            <a:ext cx="2788920" cy="65836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Raises the pass in about a minute, sees exactly where it is stuck and who it is waiting on.</a:t>
            </a:r>
            <a:endParaRPr lang="en-US" sz="1250" dirty="0"/>
          </a:p>
        </p:txBody>
      </p:sp>
      <p:sp>
        <p:nvSpPr>
          <p:cNvPr id="12" name="Shape 7"/>
          <p:cNvSpPr/>
          <p:nvPr/>
        </p:nvSpPr>
        <p:spPr>
          <a:xfrm>
            <a:off x="4297680" y="1965960"/>
            <a:ext cx="3401568" cy="2331720"/>
          </a:xfrm>
          <a:prstGeom prst="roundRect">
            <a:avLst>
              <a:gd name="adj" fmla="val 627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8"/>
          <p:cNvSpPr/>
          <p:nvPr/>
        </p:nvSpPr>
        <p:spPr>
          <a:xfrm>
            <a:off x="4626864" y="2286000"/>
            <a:ext cx="731520" cy="731520"/>
          </a:xfrm>
          <a:prstGeom prst="roundRect">
            <a:avLst>
              <a:gd name="adj" fmla="val 17500"/>
            </a:avLst>
          </a:prstGeom>
          <a:solidFill>
            <a:srgbClr val="FCECED"/>
          </a:solidFill>
          <a:ln w="12700">
            <a:solidFill>
              <a:srgbClr val="FCECED"/>
            </a:solidFill>
            <a:prstDash val="solid"/>
          </a:ln>
        </p:spPr>
      </p:sp>
      <p:pic>
        <p:nvPicPr>
          <p:cNvPr id="14" name="Image 3" descr="/home/claude/deck/icons/users-r.png">    </p:cNvPr>
          <p:cNvPicPr>
            <a:picLocks noChangeAspect="1"/>
          </p:cNvPicPr>
          <p:nvPr/>
        </p:nvPicPr>
        <p:blipFill>
          <a:blip r:embed="rId4"/>
          <a:stretch>
            <a:fillRect/>
          </a:stretch>
        </p:blipFill>
        <p:spPr>
          <a:xfrm>
            <a:off x="4817059" y="2476195"/>
            <a:ext cx="351130" cy="351130"/>
          </a:xfrm>
          <a:prstGeom prst="rect">
            <a:avLst/>
          </a:prstGeom>
        </p:spPr>
      </p:pic>
      <p:sp>
        <p:nvSpPr>
          <p:cNvPr id="15" name="Text 9"/>
          <p:cNvSpPr txBox="1"/>
          <p:nvPr/>
        </p:nvSpPr>
        <p:spPr>
          <a:xfrm>
            <a:off x="4626864" y="3182112"/>
            <a:ext cx="2743200" cy="310896"/>
          </a:xfrm>
          <a:prstGeom prst="rect">
            <a:avLst/>
          </a:prstGeom>
          <a:noFill/>
          <a:ln/>
        </p:spPr>
        <p:txBody>
          <a:bodyPr wrap="square" lIns="0" tIns="0" rIns="0" bIns="0" rtlCol="0" anchor="ctr"/>
          <a:lstStyle/>
          <a:p>
            <a:pPr indent="0" marL="0">
              <a:buNone/>
            </a:pPr>
            <a:r>
              <a:rPr lang="en-US" sz="1900" b="1" dirty="0">
                <a:solidFill>
                  <a:srgbClr val="18181B"/>
                </a:solidFill>
                <a:latin typeface="Calibri" pitchFamily="34" charset="0"/>
                <a:ea typeface="Calibri" pitchFamily="34" charset="-122"/>
                <a:cs typeface="Calibri" pitchFamily="34" charset="-120"/>
              </a:rPr>
              <a:t>The guardian</a:t>
            </a:r>
            <a:endParaRPr lang="en-US" sz="1900" dirty="0"/>
          </a:p>
        </p:txBody>
      </p:sp>
      <p:sp>
        <p:nvSpPr>
          <p:cNvPr id="16" name="Text 10"/>
          <p:cNvSpPr txBox="1"/>
          <p:nvPr/>
        </p:nvSpPr>
        <p:spPr>
          <a:xfrm>
            <a:off x="4626864" y="3529584"/>
            <a:ext cx="2788920" cy="65836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Approves or refuses from their phone, and can see whether their child is on campus right now.</a:t>
            </a:r>
            <a:endParaRPr lang="en-US" sz="1250" dirty="0"/>
          </a:p>
        </p:txBody>
      </p:sp>
      <p:sp>
        <p:nvSpPr>
          <p:cNvPr id="17" name="Shape 11"/>
          <p:cNvSpPr/>
          <p:nvPr/>
        </p:nvSpPr>
        <p:spPr>
          <a:xfrm>
            <a:off x="7909560" y="1965960"/>
            <a:ext cx="3401568" cy="2331720"/>
          </a:xfrm>
          <a:prstGeom prst="roundRect">
            <a:avLst>
              <a:gd name="adj" fmla="val 627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2"/>
          <p:cNvSpPr/>
          <p:nvPr/>
        </p:nvSpPr>
        <p:spPr>
          <a:xfrm>
            <a:off x="8238744" y="2286000"/>
            <a:ext cx="731520" cy="731520"/>
          </a:xfrm>
          <a:prstGeom prst="roundRect">
            <a:avLst>
              <a:gd name="adj" fmla="val 17500"/>
            </a:avLst>
          </a:prstGeom>
          <a:solidFill>
            <a:srgbClr val="FCECED"/>
          </a:solidFill>
          <a:ln w="12700">
            <a:solidFill>
              <a:srgbClr val="FCECED"/>
            </a:solidFill>
            <a:prstDash val="solid"/>
          </a:ln>
        </p:spPr>
      </p:sp>
      <p:pic>
        <p:nvPicPr>
          <p:cNvPr id="19" name="Image 4" descr="/home/claude/deck/icons/shield-r.png">    </p:cNvPr>
          <p:cNvPicPr>
            <a:picLocks noChangeAspect="1"/>
          </p:cNvPicPr>
          <p:nvPr/>
        </p:nvPicPr>
        <p:blipFill>
          <a:blip r:embed="rId5"/>
          <a:stretch>
            <a:fillRect/>
          </a:stretch>
        </p:blipFill>
        <p:spPr>
          <a:xfrm>
            <a:off x="8428939" y="2476195"/>
            <a:ext cx="351130" cy="351130"/>
          </a:xfrm>
          <a:prstGeom prst="rect">
            <a:avLst/>
          </a:prstGeom>
        </p:spPr>
      </p:pic>
      <p:sp>
        <p:nvSpPr>
          <p:cNvPr id="20" name="Text 13"/>
          <p:cNvSpPr txBox="1"/>
          <p:nvPr/>
        </p:nvSpPr>
        <p:spPr>
          <a:xfrm>
            <a:off x="8238744" y="3182112"/>
            <a:ext cx="2743200" cy="310896"/>
          </a:xfrm>
          <a:prstGeom prst="rect">
            <a:avLst/>
          </a:prstGeom>
          <a:noFill/>
          <a:ln/>
        </p:spPr>
        <p:txBody>
          <a:bodyPr wrap="square" lIns="0" tIns="0" rIns="0" bIns="0" rtlCol="0" anchor="ctr"/>
          <a:lstStyle/>
          <a:p>
            <a:pPr indent="0" marL="0">
              <a:buNone/>
            </a:pPr>
            <a:r>
              <a:rPr lang="en-US" sz="1900" b="1" dirty="0">
                <a:solidFill>
                  <a:srgbClr val="18181B"/>
                </a:solidFill>
                <a:latin typeface="Calibri" pitchFamily="34" charset="0"/>
                <a:ea typeface="Calibri" pitchFamily="34" charset="-122"/>
                <a:cs typeface="Calibri" pitchFamily="34" charset="-120"/>
              </a:rPr>
              <a:t>The warden</a:t>
            </a:r>
            <a:endParaRPr lang="en-US" sz="1900" dirty="0"/>
          </a:p>
        </p:txBody>
      </p:sp>
      <p:sp>
        <p:nvSpPr>
          <p:cNvPr id="21" name="Text 14"/>
          <p:cNvSpPr txBox="1"/>
          <p:nvPr/>
        </p:nvSpPr>
        <p:spPr>
          <a:xfrm>
            <a:off x="8238744" y="3529584"/>
            <a:ext cx="2788920" cy="65836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Clears the request, activates it at the gate and closes it on return. Every action is signed and timed.</a:t>
            </a:r>
            <a:endParaRPr lang="en-US" sz="1250" dirty="0"/>
          </a:p>
        </p:txBody>
      </p:sp>
      <p:sp>
        <p:nvSpPr>
          <p:cNvPr id="22" name="Shape 15"/>
          <p:cNvSpPr/>
          <p:nvPr/>
        </p:nvSpPr>
        <p:spPr>
          <a:xfrm>
            <a:off x="685800" y="4572000"/>
            <a:ext cx="10789920" cy="1481328"/>
          </a:xfrm>
          <a:prstGeom prst="roundRect">
            <a:avLst>
              <a:gd name="adj" fmla="val 9877"/>
            </a:avLst>
          </a:prstGeom>
          <a:solidFill>
            <a:srgbClr val="FBFBFB"/>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Text 16"/>
          <p:cNvSpPr txBox="1"/>
          <p:nvPr/>
        </p:nvSpPr>
        <p:spPr>
          <a:xfrm>
            <a:off x="1005840" y="4828032"/>
            <a:ext cx="5120640" cy="310896"/>
          </a:xfrm>
          <a:prstGeom prst="rect">
            <a:avLst/>
          </a:prstGeom>
          <a:noFill/>
          <a:ln/>
        </p:spPr>
        <p:txBody>
          <a:bodyPr wrap="square" lIns="0" tIns="0" rIns="0" bIns="0" rtlCol="0" anchor="ctr"/>
          <a:lstStyle/>
          <a:p>
            <a:pPr indent="0" marL="0">
              <a:buNone/>
            </a:pPr>
            <a:r>
              <a:rPr lang="en-US" sz="1700" b="1" dirty="0">
                <a:solidFill>
                  <a:srgbClr val="18181B"/>
                </a:solidFill>
                <a:latin typeface="Calibri" pitchFamily="34" charset="0"/>
                <a:ea typeface="Calibri" pitchFamily="34" charset="-122"/>
                <a:cs typeface="Calibri" pitchFamily="34" charset="-120"/>
              </a:rPr>
              <a:t>Nobody chooses their role at sign-in.</a:t>
            </a:r>
            <a:endParaRPr lang="en-US" sz="1700" dirty="0"/>
          </a:p>
        </p:txBody>
      </p:sp>
      <p:sp>
        <p:nvSpPr>
          <p:cNvPr id="24" name="Text 17"/>
          <p:cNvSpPr txBox="1"/>
          <p:nvPr/>
        </p:nvSpPr>
        <p:spPr>
          <a:xfrm>
            <a:off x="1005840" y="5175504"/>
            <a:ext cx="6675120" cy="65836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Accounts are issued by the hostel office. The account’s own role decides which app opens — a student cannot reach a warden’s screen by picking a different option.</a:t>
            </a:r>
            <a:endParaRPr lang="en-US" sz="1250" dirty="0"/>
          </a:p>
        </p:txBody>
      </p:sp>
      <p:sp>
        <p:nvSpPr>
          <p:cNvPr id="25" name="Shape 18"/>
          <p:cNvSpPr/>
          <p:nvPr/>
        </p:nvSpPr>
        <p:spPr>
          <a:xfrm>
            <a:off x="9966960" y="4956048"/>
            <a:ext cx="777240" cy="777240"/>
          </a:xfrm>
          <a:prstGeom prst="roundRect">
            <a:avLst>
              <a:gd name="adj" fmla="val 16471"/>
            </a:avLst>
          </a:prstGeom>
          <a:solidFill>
            <a:srgbClr val="FCECED"/>
          </a:solidFill>
          <a:ln w="12700">
            <a:solidFill>
              <a:srgbClr val="FCECED"/>
            </a:solidFill>
            <a:prstDash val="solid"/>
          </a:ln>
        </p:spPr>
      </p:sp>
      <p:pic>
        <p:nvPicPr>
          <p:cNvPr id="26" name="Image 5" descr="/home/claude/deck/icons/lock-r.png">    </p:cNvPr>
          <p:cNvPicPr>
            <a:picLocks noChangeAspect="1"/>
          </p:cNvPicPr>
          <p:nvPr/>
        </p:nvPicPr>
        <p:blipFill>
          <a:blip r:embed="rId6"/>
          <a:stretch>
            <a:fillRect/>
          </a:stretch>
        </p:blipFill>
        <p:spPr>
          <a:xfrm>
            <a:off x="10169042" y="5158130"/>
            <a:ext cx="373075" cy="3730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HOW A PASS MOVES</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Five steps, and the app knows which one you are on</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Fifteen tracked states sit behind these five. The student is only ever shown the one sentence that matters.</a:t>
            </a:r>
            <a:endParaRPr lang="en-US" sz="1450" dirty="0"/>
          </a:p>
        </p:txBody>
      </p:sp>
      <p:sp>
        <p:nvSpPr>
          <p:cNvPr id="7" name="Shape 3"/>
          <p:cNvSpPr/>
          <p:nvPr/>
        </p:nvSpPr>
        <p:spPr>
          <a:xfrm>
            <a:off x="685800" y="2057400"/>
            <a:ext cx="1938528" cy="2743200"/>
          </a:xfrm>
          <a:prstGeom prst="roundRect">
            <a:avLst>
              <a:gd name="adj" fmla="val 7547"/>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05256" y="2286000"/>
            <a:ext cx="384048" cy="384048"/>
          </a:xfrm>
          <a:prstGeom prst="ellipse">
            <a:avLst/>
          </a:prstGeom>
          <a:solidFill>
            <a:srgbClr val="6B6B76"/>
          </a:solidFill>
          <a:ln w="12700">
            <a:solidFill>
              <a:srgbClr val="6B6B76"/>
            </a:solidFill>
            <a:prstDash val="solid"/>
          </a:ln>
        </p:spPr>
      </p:sp>
      <p:sp>
        <p:nvSpPr>
          <p:cNvPr id="9" name="Text 5"/>
          <p:cNvSpPr txBox="1"/>
          <p:nvPr/>
        </p:nvSpPr>
        <p:spPr>
          <a:xfrm>
            <a:off x="905256" y="2331720"/>
            <a:ext cx="3840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10" name="Image 2" descr="/home/claude/deck/icons/send-m.png">    </p:cNvPr>
          <p:cNvPicPr>
            <a:picLocks noChangeAspect="1"/>
          </p:cNvPicPr>
          <p:nvPr/>
        </p:nvPicPr>
        <p:blipFill>
          <a:blip r:embed="rId3"/>
          <a:stretch>
            <a:fillRect/>
          </a:stretch>
        </p:blipFill>
        <p:spPr>
          <a:xfrm>
            <a:off x="2020824" y="2286000"/>
            <a:ext cx="384048" cy="384048"/>
          </a:xfrm>
          <a:prstGeom prst="rect">
            <a:avLst/>
          </a:prstGeom>
        </p:spPr>
      </p:pic>
      <p:sp>
        <p:nvSpPr>
          <p:cNvPr id="11" name="Text 6"/>
          <p:cNvSpPr txBox="1"/>
          <p:nvPr/>
        </p:nvSpPr>
        <p:spPr>
          <a:xfrm>
            <a:off x="905256" y="2834640"/>
            <a:ext cx="1536192" cy="493776"/>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Requested</a:t>
            </a:r>
            <a:endParaRPr lang="en-US" sz="1550" dirty="0"/>
          </a:p>
        </p:txBody>
      </p:sp>
      <p:sp>
        <p:nvSpPr>
          <p:cNvPr id="12" name="Text 7"/>
          <p:cNvSpPr txBox="1"/>
          <p:nvPr/>
        </p:nvSpPr>
        <p:spPr>
          <a:xfrm>
            <a:off x="905256" y="3383280"/>
            <a:ext cx="1536192" cy="1280160"/>
          </a:xfrm>
          <a:prstGeom prst="rect">
            <a:avLst/>
          </a:prstGeom>
          <a:noFill/>
          <a:ln/>
        </p:spPr>
        <p:txBody>
          <a:bodyPr wrap="square" lIns="0" tIns="0" rIns="0" bIns="0" rtlCol="0" anchor="ctr"/>
          <a:lstStyle/>
          <a:p>
            <a:pPr indent="0" marL="0">
              <a:lnSpc>
                <a:spcPts val="1500"/>
              </a:lnSpc>
              <a:buNone/>
            </a:pPr>
            <a:r>
              <a:rPr lang="en-US" sz="1100" dirty="0">
                <a:solidFill>
                  <a:srgbClr val="6B6B76"/>
                </a:solidFill>
                <a:latin typeface="Calibri" pitchFamily="34" charset="0"/>
                <a:ea typeface="Calibri" pitchFamily="34" charset="-122"/>
                <a:cs typeface="Calibri" pitchFamily="34" charset="-120"/>
              </a:rPr>
              <a:t>The student fills the form. Category rules — how long, what proof — come from your campus, not from us.</a:t>
            </a:r>
            <a:endParaRPr lang="en-US" sz="1100" dirty="0"/>
          </a:p>
        </p:txBody>
      </p:sp>
      <p:sp>
        <p:nvSpPr>
          <p:cNvPr id="13" name="Text 8"/>
          <p:cNvSpPr txBox="1"/>
          <p:nvPr/>
        </p:nvSpPr>
        <p:spPr>
          <a:xfrm>
            <a:off x="2642616" y="3127248"/>
            <a:ext cx="256032" cy="365760"/>
          </a:xfrm>
          <a:prstGeom prst="rect">
            <a:avLst/>
          </a:prstGeom>
          <a:noFill/>
          <a:ln/>
        </p:spPr>
        <p:txBody>
          <a:bodyPr wrap="square" lIns="0" tIns="0" rIns="0" bIns="0" rtlCol="0" anchor="ctr"/>
          <a:lstStyle/>
          <a:p>
            <a:pPr algn="ctr" indent="0" marL="0">
              <a:buNone/>
            </a:pPr>
            <a:r>
              <a:rPr lang="en-US" sz="2200" b="1" dirty="0">
                <a:solidFill>
                  <a:srgbClr val="9E9EA9"/>
                </a:solidFill>
                <a:latin typeface="Calibri" pitchFamily="34" charset="0"/>
                <a:ea typeface="Calibri" pitchFamily="34" charset="-122"/>
                <a:cs typeface="Calibri" pitchFamily="34" charset="-120"/>
              </a:rPr>
              <a:t>›</a:t>
            </a:r>
            <a:endParaRPr lang="en-US" sz="2200" dirty="0"/>
          </a:p>
        </p:txBody>
      </p:sp>
      <p:sp>
        <p:nvSpPr>
          <p:cNvPr id="14" name="Shape 9"/>
          <p:cNvSpPr/>
          <p:nvPr/>
        </p:nvSpPr>
        <p:spPr>
          <a:xfrm>
            <a:off x="2898648" y="2057400"/>
            <a:ext cx="1938528" cy="2743200"/>
          </a:xfrm>
          <a:prstGeom prst="roundRect">
            <a:avLst>
              <a:gd name="adj" fmla="val 7547"/>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5" name="Shape 10"/>
          <p:cNvSpPr/>
          <p:nvPr/>
        </p:nvSpPr>
        <p:spPr>
          <a:xfrm>
            <a:off x="3118104" y="2286000"/>
            <a:ext cx="384048" cy="384048"/>
          </a:xfrm>
          <a:prstGeom prst="ellipse">
            <a:avLst/>
          </a:prstGeom>
          <a:solidFill>
            <a:srgbClr val="059669"/>
          </a:solidFill>
          <a:ln w="12700">
            <a:solidFill>
              <a:srgbClr val="059669"/>
            </a:solidFill>
            <a:prstDash val="solid"/>
          </a:ln>
        </p:spPr>
      </p:sp>
      <p:sp>
        <p:nvSpPr>
          <p:cNvPr id="16" name="Text 11"/>
          <p:cNvSpPr txBox="1"/>
          <p:nvPr/>
        </p:nvSpPr>
        <p:spPr>
          <a:xfrm>
            <a:off x="3118104" y="2331720"/>
            <a:ext cx="3840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pic>
        <p:nvPicPr>
          <p:cNvPr id="17" name="Image 3" descr="/home/claude/deck/icons/shield-m.png">    </p:cNvPr>
          <p:cNvPicPr>
            <a:picLocks noChangeAspect="1"/>
          </p:cNvPicPr>
          <p:nvPr/>
        </p:nvPicPr>
        <p:blipFill>
          <a:blip r:embed="rId4"/>
          <a:stretch>
            <a:fillRect/>
          </a:stretch>
        </p:blipFill>
        <p:spPr>
          <a:xfrm>
            <a:off x="4233672" y="2286000"/>
            <a:ext cx="384048" cy="384048"/>
          </a:xfrm>
          <a:prstGeom prst="rect">
            <a:avLst/>
          </a:prstGeom>
        </p:spPr>
      </p:pic>
      <p:sp>
        <p:nvSpPr>
          <p:cNvPr id="18" name="Text 12"/>
          <p:cNvSpPr txBox="1"/>
          <p:nvPr/>
        </p:nvSpPr>
        <p:spPr>
          <a:xfrm>
            <a:off x="3118104" y="2834640"/>
            <a:ext cx="1536192" cy="493776"/>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Warden clears it</a:t>
            </a:r>
            <a:endParaRPr lang="en-US" sz="1550" dirty="0"/>
          </a:p>
        </p:txBody>
      </p:sp>
      <p:sp>
        <p:nvSpPr>
          <p:cNvPr id="19" name="Text 13"/>
          <p:cNvSpPr txBox="1"/>
          <p:nvPr/>
        </p:nvSpPr>
        <p:spPr>
          <a:xfrm>
            <a:off x="3118104" y="3383280"/>
            <a:ext cx="1536192" cy="1280160"/>
          </a:xfrm>
          <a:prstGeom prst="rect">
            <a:avLst/>
          </a:prstGeom>
          <a:noFill/>
          <a:ln/>
        </p:spPr>
        <p:txBody>
          <a:bodyPr wrap="square" lIns="0" tIns="0" rIns="0" bIns="0" rtlCol="0" anchor="ctr"/>
          <a:lstStyle/>
          <a:p>
            <a:pPr indent="0" marL="0">
              <a:lnSpc>
                <a:spcPts val="1500"/>
              </a:lnSpc>
              <a:buNone/>
            </a:pPr>
            <a:r>
              <a:rPr lang="en-US" sz="1100" dirty="0">
                <a:solidFill>
                  <a:srgbClr val="6B6B76"/>
                </a:solidFill>
                <a:latin typeface="Calibri" pitchFamily="34" charset="0"/>
                <a:ea typeface="Calibri" pitchFamily="34" charset="-122"/>
                <a:cs typeface="Calibri" pitchFamily="34" charset="-120"/>
              </a:rPr>
              <a:t>Checked against curfew, late returns and the hostel’s own rules.</a:t>
            </a:r>
            <a:endParaRPr lang="en-US" sz="1100" dirty="0"/>
          </a:p>
        </p:txBody>
      </p:sp>
      <p:sp>
        <p:nvSpPr>
          <p:cNvPr id="20" name="Text 14"/>
          <p:cNvSpPr txBox="1"/>
          <p:nvPr/>
        </p:nvSpPr>
        <p:spPr>
          <a:xfrm>
            <a:off x="4855464" y="3127248"/>
            <a:ext cx="256032" cy="365760"/>
          </a:xfrm>
          <a:prstGeom prst="rect">
            <a:avLst/>
          </a:prstGeom>
          <a:noFill/>
          <a:ln/>
        </p:spPr>
        <p:txBody>
          <a:bodyPr wrap="square" lIns="0" tIns="0" rIns="0" bIns="0" rtlCol="0" anchor="ctr"/>
          <a:lstStyle/>
          <a:p>
            <a:pPr algn="ctr" indent="0" marL="0">
              <a:buNone/>
            </a:pPr>
            <a:r>
              <a:rPr lang="en-US" sz="2200" b="1" dirty="0">
                <a:solidFill>
                  <a:srgbClr val="9E9EA9"/>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5111496" y="2057400"/>
            <a:ext cx="1938528" cy="2743200"/>
          </a:xfrm>
          <a:prstGeom prst="roundRect">
            <a:avLst>
              <a:gd name="adj" fmla="val 7547"/>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2" name="Shape 16"/>
          <p:cNvSpPr/>
          <p:nvPr/>
        </p:nvSpPr>
        <p:spPr>
          <a:xfrm>
            <a:off x="5330952" y="2286000"/>
            <a:ext cx="384048" cy="384048"/>
          </a:xfrm>
          <a:prstGeom prst="ellipse">
            <a:avLst/>
          </a:prstGeom>
          <a:solidFill>
            <a:srgbClr val="B45309"/>
          </a:solidFill>
          <a:ln w="12700">
            <a:solidFill>
              <a:srgbClr val="B45309"/>
            </a:solidFill>
            <a:prstDash val="solid"/>
          </a:ln>
        </p:spPr>
      </p:sp>
      <p:sp>
        <p:nvSpPr>
          <p:cNvPr id="23" name="Text 17"/>
          <p:cNvSpPr txBox="1"/>
          <p:nvPr/>
        </p:nvSpPr>
        <p:spPr>
          <a:xfrm>
            <a:off x="5330952" y="2331720"/>
            <a:ext cx="3840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pic>
        <p:nvPicPr>
          <p:cNvPr id="24" name="Image 4" descr="/home/claude/deck/icons/users-m.png">    </p:cNvPr>
          <p:cNvPicPr>
            <a:picLocks noChangeAspect="1"/>
          </p:cNvPicPr>
          <p:nvPr/>
        </p:nvPicPr>
        <p:blipFill>
          <a:blip r:embed="rId5"/>
          <a:stretch>
            <a:fillRect/>
          </a:stretch>
        </p:blipFill>
        <p:spPr>
          <a:xfrm>
            <a:off x="6446520" y="2286000"/>
            <a:ext cx="384048" cy="384048"/>
          </a:xfrm>
          <a:prstGeom prst="rect">
            <a:avLst/>
          </a:prstGeom>
        </p:spPr>
      </p:pic>
      <p:sp>
        <p:nvSpPr>
          <p:cNvPr id="25" name="Text 18"/>
          <p:cNvSpPr txBox="1"/>
          <p:nvPr/>
        </p:nvSpPr>
        <p:spPr>
          <a:xfrm>
            <a:off x="5330952" y="2834640"/>
            <a:ext cx="1536192" cy="493776"/>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Guardian decides</a:t>
            </a:r>
            <a:endParaRPr lang="en-US" sz="1550" dirty="0"/>
          </a:p>
        </p:txBody>
      </p:sp>
      <p:sp>
        <p:nvSpPr>
          <p:cNvPr id="26" name="Text 19"/>
          <p:cNvSpPr txBox="1"/>
          <p:nvPr/>
        </p:nvSpPr>
        <p:spPr>
          <a:xfrm>
            <a:off x="5330952" y="3383280"/>
            <a:ext cx="1536192" cy="1280160"/>
          </a:xfrm>
          <a:prstGeom prst="rect">
            <a:avLst/>
          </a:prstGeom>
          <a:noFill/>
          <a:ln/>
        </p:spPr>
        <p:txBody>
          <a:bodyPr wrap="square" lIns="0" tIns="0" rIns="0" bIns="0" rtlCol="0" anchor="ctr"/>
          <a:lstStyle/>
          <a:p>
            <a:pPr indent="0" marL="0">
              <a:lnSpc>
                <a:spcPts val="1500"/>
              </a:lnSpc>
              <a:buNone/>
            </a:pPr>
            <a:r>
              <a:rPr lang="en-US" sz="1100" dirty="0">
                <a:solidFill>
                  <a:srgbClr val="6B6B76"/>
                </a:solidFill>
                <a:latin typeface="Calibri" pitchFamily="34" charset="0"/>
                <a:ea typeface="Calibri" pitchFamily="34" charset="-122"/>
                <a:cs typeface="Calibri" pitchFamily="34" charset="-120"/>
              </a:rPr>
              <a:t>Approve, refuse, or ask to speak to the warden first. With a note either way.</a:t>
            </a:r>
            <a:endParaRPr lang="en-US" sz="1100" dirty="0"/>
          </a:p>
        </p:txBody>
      </p:sp>
      <p:sp>
        <p:nvSpPr>
          <p:cNvPr id="27" name="Text 20"/>
          <p:cNvSpPr txBox="1"/>
          <p:nvPr/>
        </p:nvSpPr>
        <p:spPr>
          <a:xfrm>
            <a:off x="7068312" y="3127248"/>
            <a:ext cx="256032" cy="365760"/>
          </a:xfrm>
          <a:prstGeom prst="rect">
            <a:avLst/>
          </a:prstGeom>
          <a:noFill/>
          <a:ln/>
        </p:spPr>
        <p:txBody>
          <a:bodyPr wrap="square" lIns="0" tIns="0" rIns="0" bIns="0" rtlCol="0" anchor="ctr"/>
          <a:lstStyle/>
          <a:p>
            <a:pPr algn="ctr" indent="0" marL="0">
              <a:buNone/>
            </a:pPr>
            <a:r>
              <a:rPr lang="en-US" sz="2200" b="1" dirty="0">
                <a:solidFill>
                  <a:srgbClr val="9E9EA9"/>
                </a:solidFill>
                <a:latin typeface="Calibri" pitchFamily="34" charset="0"/>
                <a:ea typeface="Calibri" pitchFamily="34" charset="-122"/>
                <a:cs typeface="Calibri" pitchFamily="34" charset="-120"/>
              </a:rPr>
              <a:t>›</a:t>
            </a:r>
            <a:endParaRPr lang="en-US" sz="2200" dirty="0"/>
          </a:p>
        </p:txBody>
      </p:sp>
      <p:sp>
        <p:nvSpPr>
          <p:cNvPr id="28" name="Shape 21"/>
          <p:cNvSpPr/>
          <p:nvPr/>
        </p:nvSpPr>
        <p:spPr>
          <a:xfrm>
            <a:off x="7324344" y="2057400"/>
            <a:ext cx="1938528" cy="2743200"/>
          </a:xfrm>
          <a:prstGeom prst="roundRect">
            <a:avLst>
              <a:gd name="adj" fmla="val 7547"/>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9" name="Shape 22"/>
          <p:cNvSpPr/>
          <p:nvPr/>
        </p:nvSpPr>
        <p:spPr>
          <a:xfrm>
            <a:off x="7543800" y="2286000"/>
            <a:ext cx="384048" cy="384048"/>
          </a:xfrm>
          <a:prstGeom prst="ellipse">
            <a:avLst/>
          </a:prstGeom>
          <a:solidFill>
            <a:srgbClr val="0284C7"/>
          </a:solidFill>
          <a:ln w="12700">
            <a:solidFill>
              <a:srgbClr val="0284C7"/>
            </a:solidFill>
            <a:prstDash val="solid"/>
          </a:ln>
        </p:spPr>
      </p:sp>
      <p:sp>
        <p:nvSpPr>
          <p:cNvPr id="30" name="Text 23"/>
          <p:cNvSpPr txBox="1"/>
          <p:nvPr/>
        </p:nvSpPr>
        <p:spPr>
          <a:xfrm>
            <a:off x="7543800" y="2331720"/>
            <a:ext cx="3840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31" name="Image 5" descr="/home/claude/deck/icons/card-m.png">    </p:cNvPr>
          <p:cNvPicPr>
            <a:picLocks noChangeAspect="1"/>
          </p:cNvPicPr>
          <p:nvPr/>
        </p:nvPicPr>
        <p:blipFill>
          <a:blip r:embed="rId6"/>
          <a:stretch>
            <a:fillRect/>
          </a:stretch>
        </p:blipFill>
        <p:spPr>
          <a:xfrm>
            <a:off x="8659368" y="2286000"/>
            <a:ext cx="384048" cy="384048"/>
          </a:xfrm>
          <a:prstGeom prst="rect">
            <a:avLst/>
          </a:prstGeom>
        </p:spPr>
      </p:pic>
      <p:sp>
        <p:nvSpPr>
          <p:cNvPr id="32" name="Text 24"/>
          <p:cNvSpPr txBox="1"/>
          <p:nvPr/>
        </p:nvSpPr>
        <p:spPr>
          <a:xfrm>
            <a:off x="7543800" y="2834640"/>
            <a:ext cx="1536192" cy="493776"/>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Out at the gate</a:t>
            </a:r>
            <a:endParaRPr lang="en-US" sz="1550" dirty="0"/>
          </a:p>
        </p:txBody>
      </p:sp>
      <p:sp>
        <p:nvSpPr>
          <p:cNvPr id="33" name="Text 25"/>
          <p:cNvSpPr txBox="1"/>
          <p:nvPr/>
        </p:nvSpPr>
        <p:spPr>
          <a:xfrm>
            <a:off x="7543800" y="3383280"/>
            <a:ext cx="1536192" cy="1280160"/>
          </a:xfrm>
          <a:prstGeom prst="rect">
            <a:avLst/>
          </a:prstGeom>
          <a:noFill/>
          <a:ln/>
        </p:spPr>
        <p:txBody>
          <a:bodyPr wrap="square" lIns="0" tIns="0" rIns="0" bIns="0" rtlCol="0" anchor="ctr"/>
          <a:lstStyle/>
          <a:p>
            <a:pPr indent="0" marL="0">
              <a:lnSpc>
                <a:spcPts val="1500"/>
              </a:lnSpc>
              <a:buNone/>
            </a:pPr>
            <a:r>
              <a:rPr lang="en-US" sz="1100" dirty="0">
                <a:solidFill>
                  <a:srgbClr val="6B6B76"/>
                </a:solidFill>
                <a:latin typeface="Calibri" pitchFamily="34" charset="0"/>
                <a:ea typeface="Calibri" pitchFamily="34" charset="-122"/>
                <a:cs typeface="Calibri" pitchFamily="34" charset="-120"/>
              </a:rPr>
              <a:t>The pass is activated and the exit scan is recorded against it.</a:t>
            </a:r>
            <a:endParaRPr lang="en-US" sz="1100" dirty="0"/>
          </a:p>
        </p:txBody>
      </p:sp>
      <p:sp>
        <p:nvSpPr>
          <p:cNvPr id="34" name="Text 26"/>
          <p:cNvSpPr txBox="1"/>
          <p:nvPr/>
        </p:nvSpPr>
        <p:spPr>
          <a:xfrm>
            <a:off x="9281160" y="3127248"/>
            <a:ext cx="256032" cy="365760"/>
          </a:xfrm>
          <a:prstGeom prst="rect">
            <a:avLst/>
          </a:prstGeom>
          <a:noFill/>
          <a:ln/>
        </p:spPr>
        <p:txBody>
          <a:bodyPr wrap="square" lIns="0" tIns="0" rIns="0" bIns="0" rtlCol="0" anchor="ctr"/>
          <a:lstStyle/>
          <a:p>
            <a:pPr algn="ctr" indent="0" marL="0">
              <a:buNone/>
            </a:pPr>
            <a:r>
              <a:rPr lang="en-US" sz="2200" b="1" dirty="0">
                <a:solidFill>
                  <a:srgbClr val="9E9EA9"/>
                </a:solidFill>
                <a:latin typeface="Calibri" pitchFamily="34" charset="0"/>
                <a:ea typeface="Calibri" pitchFamily="34" charset="-122"/>
                <a:cs typeface="Calibri" pitchFamily="34" charset="-120"/>
              </a:rPr>
              <a:t>›</a:t>
            </a:r>
            <a:endParaRPr lang="en-US" sz="2200" dirty="0"/>
          </a:p>
        </p:txBody>
      </p:sp>
      <p:sp>
        <p:nvSpPr>
          <p:cNvPr id="35" name="Shape 27"/>
          <p:cNvSpPr/>
          <p:nvPr/>
        </p:nvSpPr>
        <p:spPr>
          <a:xfrm>
            <a:off x="9537192" y="2057400"/>
            <a:ext cx="1938528" cy="2743200"/>
          </a:xfrm>
          <a:prstGeom prst="roundRect">
            <a:avLst>
              <a:gd name="adj" fmla="val 7547"/>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36" name="Shape 28"/>
          <p:cNvSpPr/>
          <p:nvPr/>
        </p:nvSpPr>
        <p:spPr>
          <a:xfrm>
            <a:off x="9756648" y="2286000"/>
            <a:ext cx="384048" cy="384048"/>
          </a:xfrm>
          <a:prstGeom prst="ellipse">
            <a:avLst/>
          </a:prstGeom>
          <a:solidFill>
            <a:srgbClr val="059669"/>
          </a:solidFill>
          <a:ln w="12700">
            <a:solidFill>
              <a:srgbClr val="059669"/>
            </a:solidFill>
            <a:prstDash val="solid"/>
          </a:ln>
        </p:spPr>
      </p:sp>
      <p:sp>
        <p:nvSpPr>
          <p:cNvPr id="37" name="Text 29"/>
          <p:cNvSpPr txBox="1"/>
          <p:nvPr/>
        </p:nvSpPr>
        <p:spPr>
          <a:xfrm>
            <a:off x="9756648" y="2331720"/>
            <a:ext cx="3840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pic>
        <p:nvPicPr>
          <p:cNvPr id="38" name="Image 6" descr="/home/claude/deck/icons/check-m.png">    </p:cNvPr>
          <p:cNvPicPr>
            <a:picLocks noChangeAspect="1"/>
          </p:cNvPicPr>
          <p:nvPr/>
        </p:nvPicPr>
        <p:blipFill>
          <a:blip r:embed="rId7"/>
          <a:stretch>
            <a:fillRect/>
          </a:stretch>
        </p:blipFill>
        <p:spPr>
          <a:xfrm>
            <a:off x="10872216" y="2286000"/>
            <a:ext cx="384048" cy="384048"/>
          </a:xfrm>
          <a:prstGeom prst="rect">
            <a:avLst/>
          </a:prstGeom>
        </p:spPr>
      </p:pic>
      <p:sp>
        <p:nvSpPr>
          <p:cNvPr id="39" name="Text 30"/>
          <p:cNvSpPr txBox="1"/>
          <p:nvPr/>
        </p:nvSpPr>
        <p:spPr>
          <a:xfrm>
            <a:off x="9756648" y="2834640"/>
            <a:ext cx="1536192" cy="493776"/>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Back and closed</a:t>
            </a:r>
            <a:endParaRPr lang="en-US" sz="1550" dirty="0"/>
          </a:p>
        </p:txBody>
      </p:sp>
      <p:sp>
        <p:nvSpPr>
          <p:cNvPr id="40" name="Text 31"/>
          <p:cNvSpPr txBox="1"/>
          <p:nvPr/>
        </p:nvSpPr>
        <p:spPr>
          <a:xfrm>
            <a:off x="9756648" y="3383280"/>
            <a:ext cx="1536192" cy="1280160"/>
          </a:xfrm>
          <a:prstGeom prst="rect">
            <a:avLst/>
          </a:prstGeom>
          <a:noFill/>
          <a:ln/>
        </p:spPr>
        <p:txBody>
          <a:bodyPr wrap="square" lIns="0" tIns="0" rIns="0" bIns="0" rtlCol="0" anchor="ctr"/>
          <a:lstStyle/>
          <a:p>
            <a:pPr indent="0" marL="0">
              <a:lnSpc>
                <a:spcPts val="1500"/>
              </a:lnSpc>
              <a:buNone/>
            </a:pPr>
            <a:r>
              <a:rPr lang="en-US" sz="1100" dirty="0">
                <a:solidFill>
                  <a:srgbClr val="6B6B76"/>
                </a:solidFill>
                <a:latin typeface="Calibri" pitchFamily="34" charset="0"/>
                <a:ea typeface="Calibri" pitchFamily="34" charset="-122"/>
                <a:cs typeface="Calibri" pitchFamily="34" charset="-120"/>
              </a:rPr>
              <a:t>The return is logged. A late return is written to the student’s record.</a:t>
            </a:r>
            <a:endParaRPr lang="en-US" sz="1100" dirty="0"/>
          </a:p>
        </p:txBody>
      </p:sp>
      <p:sp>
        <p:nvSpPr>
          <p:cNvPr id="41" name="Shape 32"/>
          <p:cNvSpPr/>
          <p:nvPr/>
        </p:nvSpPr>
        <p:spPr>
          <a:xfrm>
            <a:off x="685800" y="5047488"/>
            <a:ext cx="10789920" cy="1005840"/>
          </a:xfrm>
          <a:prstGeom prst="roundRect">
            <a:avLst>
              <a:gd name="adj" fmla="val 14545"/>
            </a:avLst>
          </a:prstGeom>
          <a:solidFill>
            <a:srgbClr val="FBFBFB"/>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42" name="Shape 33"/>
          <p:cNvSpPr/>
          <p:nvPr/>
        </p:nvSpPr>
        <p:spPr>
          <a:xfrm>
            <a:off x="960120" y="5212080"/>
            <a:ext cx="566928" cy="566928"/>
          </a:xfrm>
          <a:prstGeom prst="roundRect">
            <a:avLst>
              <a:gd name="adj" fmla="val 22581"/>
            </a:avLst>
          </a:prstGeom>
          <a:solidFill>
            <a:srgbClr val="FDF2E0"/>
          </a:solidFill>
          <a:ln w="12700">
            <a:solidFill>
              <a:srgbClr val="FDF2E0"/>
            </a:solidFill>
            <a:prstDash val="solid"/>
          </a:ln>
        </p:spPr>
      </p:sp>
      <p:pic>
        <p:nvPicPr>
          <p:cNvPr id="43" name="Image 7" descr="/home/claude/deck/icons/warn-d.png">    </p:cNvPr>
          <p:cNvPicPr>
            <a:picLocks noChangeAspect="1"/>
          </p:cNvPicPr>
          <p:nvPr/>
        </p:nvPicPr>
        <p:blipFill>
          <a:blip r:embed="rId8"/>
          <a:stretch>
            <a:fillRect/>
          </a:stretch>
        </p:blipFill>
        <p:spPr>
          <a:xfrm>
            <a:off x="1107521" y="5359481"/>
            <a:ext cx="272125" cy="272125"/>
          </a:xfrm>
          <a:prstGeom prst="rect">
            <a:avLst/>
          </a:prstGeom>
        </p:spPr>
      </p:pic>
      <p:sp>
        <p:nvSpPr>
          <p:cNvPr id="44" name="Text 34"/>
          <p:cNvSpPr txBox="1"/>
          <p:nvPr/>
        </p:nvSpPr>
        <p:spPr>
          <a:xfrm>
            <a:off x="1691640" y="5230368"/>
            <a:ext cx="3200400" cy="274320"/>
          </a:xfrm>
          <a:prstGeom prst="rect">
            <a:avLst/>
          </a:prstGeom>
          <a:noFill/>
          <a:ln/>
        </p:spPr>
        <p:txBody>
          <a:bodyPr wrap="square" lIns="0" tIns="0" rIns="0" bIns="0" rtlCol="0" anchor="ctr"/>
          <a:lstStyle/>
          <a:p>
            <a:pPr indent="0" marL="0">
              <a:buNone/>
            </a:pPr>
            <a:r>
              <a:rPr lang="en-US" sz="1400" b="1" dirty="0">
                <a:solidFill>
                  <a:srgbClr val="18181B"/>
                </a:solidFill>
                <a:latin typeface="Calibri" pitchFamily="34" charset="0"/>
                <a:ea typeface="Calibri" pitchFamily="34" charset="-122"/>
                <a:cs typeface="Calibri" pitchFamily="34" charset="-120"/>
              </a:rPr>
              <a:t>And when it does not go to plan:</a:t>
            </a:r>
            <a:endParaRPr lang="en-US" sz="1400" dirty="0"/>
          </a:p>
        </p:txBody>
      </p:sp>
      <p:sp>
        <p:nvSpPr>
          <p:cNvPr id="45" name="Text 35"/>
          <p:cNvSpPr txBox="1"/>
          <p:nvPr/>
        </p:nvSpPr>
        <p:spPr>
          <a:xfrm>
            <a:off x="1691640" y="5522976"/>
            <a:ext cx="9509760" cy="438912"/>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A guardian who does not answer in time escalates to the warden. One who cannot be reached at all is marked as such. An unused pass expires on its own. None of these end as a blank.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GETTING IN</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Nobody signs themselves up</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The hostel office provisions every account. That is the whole security model, and it is deliberately dull.</a:t>
            </a:r>
            <a:endParaRPr lang="en-US" sz="1450" dirty="0"/>
          </a:p>
        </p:txBody>
      </p:sp>
      <p:pic>
        <p:nvPicPr>
          <p:cNvPr id="7" name="Image 2" descr="/home/claude/deck/mock/signin.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FCECED"/>
          </a:solidFill>
          <a:ln w="12700">
            <a:solidFill>
              <a:srgbClr val="FCECED"/>
            </a:solidFill>
            <a:prstDash val="solid"/>
          </a:ln>
        </p:spPr>
      </p:sp>
      <p:pic>
        <p:nvPicPr>
          <p:cNvPr id="10" name="Image 3" descr="/home/claude/deck/icons/lock-r.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Issued by the office, not requested</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student, a guardian or a warden exists in the app because the campus record says so. There is no public sign-up to abuse.</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FCECED"/>
          </a:solidFill>
          <a:ln w="12700">
            <a:solidFill>
              <a:srgbClr val="FCECED"/>
            </a:solidFill>
            <a:prstDash val="solid"/>
          </a:ln>
        </p:spPr>
      </p:sp>
      <p:pic>
        <p:nvPicPr>
          <p:cNvPr id="15" name="Image 4" descr="/home/claude/deck/icons/refresh-r.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first password is temporary</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An account still on its office-issued password is taken straight to a new-password screen before it can reach anything else.</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FCECED"/>
          </a:solidFill>
          <a:ln w="12700">
            <a:solidFill>
              <a:srgbClr val="FCECED"/>
            </a:solidFill>
            <a:prstDash val="solid"/>
          </a:ln>
        </p:spPr>
      </p:sp>
      <p:pic>
        <p:nvPicPr>
          <p:cNvPr id="20" name="Image 5" descr="/home/claude/deck/icons/users-r.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 guardian’s number links every child</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One phone number on record links all wards registered against it, in a single step. Siblings switch from the header.</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FCECED"/>
          </a:solidFill>
          <a:ln w="12700">
            <a:solidFill>
              <a:srgbClr val="FCECED"/>
            </a:solidFill>
            <a:prstDash val="solid"/>
          </a:ln>
        </p:spPr>
      </p:sp>
      <p:pic>
        <p:nvPicPr>
          <p:cNvPr id="25" name="Image 6" descr="/home/claude/deck/icons/check-r.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You stay signed in</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Sessions survive a restart and refresh quietly in the background — no guardian is asked to log in again mid-decision.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FOR THE STUDENT</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The first screen answers the only two questions</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Am I allowed out right now, and what happened to the pass I asked for?</a:t>
            </a:r>
            <a:endParaRPr lang="en-US" sz="1450" dirty="0"/>
          </a:p>
        </p:txBody>
      </p:sp>
      <p:pic>
        <p:nvPicPr>
          <p:cNvPr id="7" name="Image 2" descr="/home/claude/deck/mock/student-home.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E8F6F1"/>
          </a:solidFill>
          <a:ln w="12700">
            <a:solidFill>
              <a:srgbClr val="E8F6F1"/>
            </a:solidFill>
            <a:prstDash val="solid"/>
          </a:ln>
        </p:spPr>
      </p:sp>
      <p:pic>
        <p:nvPicPr>
          <p:cNvPr id="10" name="Image 3" descr="/home/claude/deck/icons/walk-d.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Tonight’s curfew, and where the gate last saw them</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On campus or currently out, with the site’s own curfew window beside it. This is the one place either fact appears.</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FDF2E0"/>
          </a:solidFill>
          <a:ln w="12700">
            <a:solidFill>
              <a:srgbClr val="FDF2E0"/>
            </a:solidFill>
            <a:prstDash val="solid"/>
          </a:ln>
        </p:spPr>
      </p:sp>
      <p:pic>
        <p:nvPicPr>
          <p:cNvPr id="15" name="Image 4" descr="/home/claude/deck/icons/clock-d.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live request, in plain language</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Not a status code — a sentence. “Warden cleared it, waiting for your guardian to respond.” No student has to ask what a state means.</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E5F3FC"/>
          </a:solidFill>
          <a:ln w="12700">
            <a:solidFill>
              <a:srgbClr val="E5F3FC"/>
            </a:solidFill>
            <a:prstDash val="solid"/>
          </a:ln>
        </p:spPr>
      </p:sp>
      <p:pic>
        <p:nvPicPr>
          <p:cNvPr id="20" name="Image 5" descr="/home/claude/deck/icons/list-d.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 term at a glance</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Approved, pending and rejected counts come from the server, so they stay right past the first page of history.</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FDEBEB"/>
          </a:solidFill>
          <a:ln w="12700">
            <a:solidFill>
              <a:srgbClr val="FDEBEB"/>
            </a:solidFill>
            <a:prstDash val="solid"/>
          </a:ln>
        </p:spPr>
      </p:sp>
      <p:pic>
        <p:nvPicPr>
          <p:cNvPr id="25" name="Image 6" descr="/home/claude/deck/icons/warn-d.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 late return is surfaced, not buried</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If one is on record, it says so here — with the note that the warden reads it when clearing the next pass.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FOR THE STUDENT</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A pass takes about a minute to raise</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One screen, and the rules your campus set are enforced before the student can submit — not after.</a:t>
            </a:r>
            <a:endParaRPr lang="en-US" sz="1450" dirty="0"/>
          </a:p>
        </p:txBody>
      </p:sp>
      <p:pic>
        <p:nvPicPr>
          <p:cNvPr id="7" name="Image 2" descr="/home/claude/deck/mock/request.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FCECED"/>
          </a:solidFill>
          <a:ln w="12700">
            <a:solidFill>
              <a:srgbClr val="FCECED"/>
            </a:solidFill>
            <a:prstDash val="solid"/>
          </a:ln>
        </p:spPr>
      </p:sp>
      <p:pic>
        <p:nvPicPr>
          <p:cNvPr id="10" name="Image 3" descr="/home/claude/deck/icons/flag-r.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categories are yours, not ours</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Home visit, medical, academic, local outing — each with its own maximum duration and whether proof is required. Your office sets the list.</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E8F6F1"/>
          </a:solidFill>
          <a:ln w="12700">
            <a:solidFill>
              <a:srgbClr val="E8F6F1"/>
            </a:solidFill>
            <a:prstDash val="solid"/>
          </a:ln>
        </p:spPr>
      </p:sp>
      <p:pic>
        <p:nvPicPr>
          <p:cNvPr id="15" name="Image 4" descr="/home/claude/deck/icons/check-d.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Rules checked before the button unlocks</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trip longer than the category allows, or a missing document, is caught on the phone. The student never submits into a refusal.</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E5F3FC"/>
          </a:solidFill>
          <a:ln w="12700">
            <a:solidFill>
              <a:srgbClr val="E5F3FC"/>
            </a:solidFill>
            <a:prstDash val="solid"/>
          </a:ln>
        </p:spPr>
      </p:sp>
      <p:pic>
        <p:nvPicPr>
          <p:cNvPr id="20" name="Image 5" descr="/home/claude/deck/icons/cal-d.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Real dates, an emergency number, an attachment</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Out and back times from proper pickers, a destination, a reason, a number they can be reached on, and a document where one is needed.</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FDF2E0"/>
          </a:solidFill>
          <a:ln w="12700">
            <a:solidFill>
              <a:srgbClr val="FDF2E0"/>
            </a:solidFill>
            <a:prstDash val="solid"/>
          </a:ln>
        </p:spPr>
      </p:sp>
      <p:pic>
        <p:nvPicPr>
          <p:cNvPr id="25" name="Image 6" descr="/home/claude/deck/icons/x-d.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Cancellable while it is still open</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plan that changes is withdrawn by the student, rather than left in the queue for a warden to clear.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FOR THE GUARDIAN</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The parent decides — and it is written down</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The phone call becomes a tap, and the tap becomes a record that the student and the warden can both see.</a:t>
            </a:r>
            <a:endParaRPr lang="en-US" sz="1450" dirty="0"/>
          </a:p>
        </p:txBody>
      </p:sp>
      <p:pic>
        <p:nvPicPr>
          <p:cNvPr id="7" name="Image 2" descr="/home/claude/deck/mock/parent-queue.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FCECED"/>
          </a:solidFill>
          <a:ln w="12700">
            <a:solidFill>
              <a:srgbClr val="FCECED"/>
            </a:solidFill>
            <a:prstDash val="solid"/>
          </a:ln>
        </p:spPr>
      </p:sp>
      <p:pic>
        <p:nvPicPr>
          <p:cNvPr id="10" name="Image 3" descr="/home/claude/deck/icons/list-r.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Everything needed to decide, on one card</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Who, why, leaving when, back when, going where, and the number they can be reached on. No opening a second screen.</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E8F6F1"/>
          </a:solidFill>
          <a:ln w="12700">
            <a:solidFill>
              <a:srgbClr val="E8F6F1"/>
            </a:solidFill>
            <a:prstDash val="solid"/>
          </a:ln>
        </p:spPr>
      </p:sp>
      <p:pic>
        <p:nvPicPr>
          <p:cNvPr id="15" name="Image 4" descr="/home/claude/deck/icons/check-d.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Approve, refuse, or ask to speak to the warden</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The third option matters: a parent who is unsure is not forced into a yes or a no. It routes the request to the warden with a note.</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FDEBEB"/>
          </a:solidFill>
          <a:ln w="12700">
            <a:solidFill>
              <a:srgbClr val="FDEBEB"/>
            </a:solidFill>
            <a:prstDash val="solid"/>
          </a:ln>
        </p:spPr>
      </p:sp>
      <p:pic>
        <p:nvPicPr>
          <p:cNvPr id="20" name="Image 5" descr="/home/claude/deck/icons/x-d.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 refusal carries a reason</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Written by the guardian, seen by the student and the warden. The student is never left guessing why.</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E5F3FC"/>
          </a:solidFill>
          <a:ln w="12700">
            <a:solidFill>
              <a:srgbClr val="E5F3FC"/>
            </a:solidFill>
            <a:prstDash val="solid"/>
          </a:ln>
        </p:spPr>
      </p:sp>
      <p:pic>
        <p:nvPicPr>
          <p:cNvPr id="25" name="Image 6" descr="/home/claude/deck/icons/users-d.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Several children on one account</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guardian with more than one ward switches between them from the header; the queue re-filters underneath.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FOR THE GUARDIAN</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“Where is my child right now?” — answered honestly</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Two sources, gate scans and location, reconciled into one answer that admits when it is old.</a:t>
            </a:r>
            <a:endParaRPr lang="en-US" sz="1450" dirty="0"/>
          </a:p>
        </p:txBody>
      </p:sp>
      <p:pic>
        <p:nvPicPr>
          <p:cNvPr id="7" name="Image 2" descr="/home/claude/deck/mock/ward.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FCECED"/>
          </a:solidFill>
          <a:ln w="12700">
            <a:solidFill>
              <a:srgbClr val="FCECED"/>
            </a:solidFill>
            <a:prstDash val="solid"/>
          </a:ln>
        </p:spPr>
      </p:sp>
      <p:pic>
        <p:nvPicPr>
          <p:cNvPr id="10" name="Image 3" descr="/home/claude/deck/icons/card-r.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last gate scan, always available</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In or out, and at what time. This comes from the hostel’s own gate record and needs nothing from the student’s phone.</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E8F6F1"/>
          </a:solidFill>
          <a:ln w="12700">
            <a:solidFill>
              <a:srgbClr val="E8F6F1"/>
            </a:solidFill>
            <a:prstDash val="solid"/>
          </a:ln>
        </p:spPr>
      </p:sp>
      <p:pic>
        <p:nvPicPr>
          <p:cNvPr id="15" name="Image 4" descr="/home/claude/deck/icons/pin-d.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Live location only if the student turns it on</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Off by default. When on, fixes are taken only while the app is open, at most one a minute, and only after real movement.</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FDF2E0"/>
          </a:solidFill>
          <a:ln w="12700">
            <a:solidFill>
              <a:srgbClr val="FDF2E0"/>
            </a:solidFill>
            <a:prstDash val="solid"/>
          </a:ln>
        </p:spPr>
      </p:sp>
      <p:pic>
        <p:nvPicPr>
          <p:cNvPr id="20" name="Image 5" descr="/home/claude/deck/icons/clock-d.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A stale fix is labelled stale</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The app will say the reading is old rather than show yesterday’s position as if it were current.</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FDEBEB"/>
          </a:solidFill>
          <a:ln w="12700">
            <a:solidFill>
              <a:srgbClr val="FDEBEB"/>
            </a:solidFill>
            <a:prstDash val="solid"/>
          </a:ln>
        </p:spPr>
      </p:sp>
      <p:pic>
        <p:nvPicPr>
          <p:cNvPr id="25" name="Image 6" descr="/home/claude/deck/icons/warn-d.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warden’s number, and an emergency button</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Medical, family, safety or other — raising one alerts every warden on that site immediately.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FOR EVERYONE</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One pass, one timeline, four points of view</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The same record opens for the student, the guardian and the warden — each seeing only the actions they actually hold.</a:t>
            </a:r>
            <a:endParaRPr lang="en-US" sz="1450" dirty="0"/>
          </a:p>
        </p:txBody>
      </p:sp>
      <p:pic>
        <p:nvPicPr>
          <p:cNvPr id="7" name="Image 2" descr="/home/claude/deck/mock/detail.png">    </p:cNvPr>
          <p:cNvPicPr>
            <a:picLocks noChangeAspect="1"/>
          </p:cNvPicPr>
          <p:nvPr/>
        </p:nvPicPr>
        <p:blipFill>
          <a:blip r:embed="rId3"/>
          <a:stretch>
            <a:fillRect/>
          </a:stretch>
        </p:blipFill>
        <p:spPr>
          <a:xfrm>
            <a:off x="777240" y="1828800"/>
            <a:ext cx="2331720" cy="4782312"/>
          </a:xfrm>
          <a:prstGeom prst="rect">
            <a:avLst/>
          </a:prstGeom>
        </p:spPr>
      </p:pic>
      <p:sp>
        <p:nvSpPr>
          <p:cNvPr id="8" name="Shape 3"/>
          <p:cNvSpPr/>
          <p:nvPr/>
        </p:nvSpPr>
        <p:spPr>
          <a:xfrm>
            <a:off x="3611880" y="1965960"/>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9" name="Shape 4"/>
          <p:cNvSpPr/>
          <p:nvPr/>
        </p:nvSpPr>
        <p:spPr>
          <a:xfrm>
            <a:off x="3840480" y="2176272"/>
            <a:ext cx="603504" cy="603504"/>
          </a:xfrm>
          <a:prstGeom prst="roundRect">
            <a:avLst>
              <a:gd name="adj" fmla="val 21212"/>
            </a:avLst>
          </a:prstGeom>
          <a:solidFill>
            <a:srgbClr val="FCECED"/>
          </a:solidFill>
          <a:ln w="12700">
            <a:solidFill>
              <a:srgbClr val="FCECED"/>
            </a:solidFill>
            <a:prstDash val="solid"/>
          </a:ln>
        </p:spPr>
      </p:sp>
      <p:pic>
        <p:nvPicPr>
          <p:cNvPr id="10" name="Image 3" descr="/home/claude/deck/icons/list-r.png">    </p:cNvPr>
          <p:cNvPicPr>
            <a:picLocks noChangeAspect="1"/>
          </p:cNvPicPr>
          <p:nvPr/>
        </p:nvPicPr>
        <p:blipFill>
          <a:blip r:embed="rId4"/>
          <a:stretch>
            <a:fillRect/>
          </a:stretch>
        </p:blipFill>
        <p:spPr>
          <a:xfrm>
            <a:off x="3997391" y="2333183"/>
            <a:ext cx="289682" cy="289682"/>
          </a:xfrm>
          <a:prstGeom prst="rect">
            <a:avLst/>
          </a:prstGeom>
        </p:spPr>
      </p:pic>
      <p:sp>
        <p:nvSpPr>
          <p:cNvPr id="11" name="Text 5"/>
          <p:cNvSpPr txBox="1"/>
          <p:nvPr/>
        </p:nvSpPr>
        <p:spPr>
          <a:xfrm>
            <a:off x="4617720" y="2148840"/>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timeline is the audit trail</a:t>
            </a:r>
            <a:endParaRPr lang="en-US" sz="1550" dirty="0"/>
          </a:p>
        </p:txBody>
      </p:sp>
      <p:sp>
        <p:nvSpPr>
          <p:cNvPr id="12" name="Text 6"/>
          <p:cNvSpPr txBox="1"/>
          <p:nvPr/>
        </p:nvSpPr>
        <p:spPr>
          <a:xfrm>
            <a:off x="4617720" y="2468880"/>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Who did what, and when — requested, cleared, sent to the guardian, scanned out, returned. It is built by the server, not the phone.</a:t>
            </a:r>
            <a:endParaRPr lang="en-US" sz="1200" dirty="0"/>
          </a:p>
        </p:txBody>
      </p:sp>
      <p:sp>
        <p:nvSpPr>
          <p:cNvPr id="13" name="Shape 7"/>
          <p:cNvSpPr/>
          <p:nvPr/>
        </p:nvSpPr>
        <p:spPr>
          <a:xfrm>
            <a:off x="3611880" y="3136392"/>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4" name="Shape 8"/>
          <p:cNvSpPr/>
          <p:nvPr/>
        </p:nvSpPr>
        <p:spPr>
          <a:xfrm>
            <a:off x="3840480" y="3346704"/>
            <a:ext cx="603504" cy="603504"/>
          </a:xfrm>
          <a:prstGeom prst="roundRect">
            <a:avLst>
              <a:gd name="adj" fmla="val 21212"/>
            </a:avLst>
          </a:prstGeom>
          <a:solidFill>
            <a:srgbClr val="E5F3FC"/>
          </a:solidFill>
          <a:ln w="12700">
            <a:solidFill>
              <a:srgbClr val="E5F3FC"/>
            </a:solidFill>
            <a:prstDash val="solid"/>
          </a:ln>
        </p:spPr>
      </p:sp>
      <p:pic>
        <p:nvPicPr>
          <p:cNvPr id="15" name="Image 4" descr="/home/claude/deck/icons/shield-d.png">    </p:cNvPr>
          <p:cNvPicPr>
            <a:picLocks noChangeAspect="1"/>
          </p:cNvPicPr>
          <p:nvPr/>
        </p:nvPicPr>
        <p:blipFill>
          <a:blip r:embed="rId5"/>
          <a:stretch>
            <a:fillRect/>
          </a:stretch>
        </p:blipFill>
        <p:spPr>
          <a:xfrm>
            <a:off x="3997391" y="3503615"/>
            <a:ext cx="289682" cy="289682"/>
          </a:xfrm>
          <a:prstGeom prst="rect">
            <a:avLst/>
          </a:prstGeom>
        </p:spPr>
      </p:pic>
      <p:sp>
        <p:nvSpPr>
          <p:cNvPr id="16" name="Text 9"/>
          <p:cNvSpPr txBox="1"/>
          <p:nvPr/>
        </p:nvSpPr>
        <p:spPr>
          <a:xfrm>
            <a:off x="4617720" y="3319272"/>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The action bar changes by role</a:t>
            </a:r>
            <a:endParaRPr lang="en-US" sz="1550" dirty="0"/>
          </a:p>
        </p:txBody>
      </p:sp>
      <p:sp>
        <p:nvSpPr>
          <p:cNvPr id="17" name="Text 10"/>
          <p:cNvSpPr txBox="1"/>
          <p:nvPr/>
        </p:nvSpPr>
        <p:spPr>
          <a:xfrm>
            <a:off x="4617720" y="3639312"/>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guardian sees approve and refuse. A warden sees activate and close. A student sees cancel. Nobody sees a button they cannot use.</a:t>
            </a:r>
            <a:endParaRPr lang="en-US" sz="1200" dirty="0"/>
          </a:p>
        </p:txBody>
      </p:sp>
      <p:sp>
        <p:nvSpPr>
          <p:cNvPr id="18" name="Shape 11"/>
          <p:cNvSpPr/>
          <p:nvPr/>
        </p:nvSpPr>
        <p:spPr>
          <a:xfrm>
            <a:off x="3611880" y="4306824"/>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9" name="Shape 12"/>
          <p:cNvSpPr/>
          <p:nvPr/>
        </p:nvSpPr>
        <p:spPr>
          <a:xfrm>
            <a:off x="3840480" y="4517136"/>
            <a:ext cx="603504" cy="603504"/>
          </a:xfrm>
          <a:prstGeom prst="roundRect">
            <a:avLst>
              <a:gd name="adj" fmla="val 21212"/>
            </a:avLst>
          </a:prstGeom>
          <a:solidFill>
            <a:srgbClr val="E8F6F1"/>
          </a:solidFill>
          <a:ln w="12700">
            <a:solidFill>
              <a:srgbClr val="E8F6F1"/>
            </a:solidFill>
            <a:prstDash val="solid"/>
          </a:ln>
        </p:spPr>
      </p:sp>
      <p:pic>
        <p:nvPicPr>
          <p:cNvPr id="20" name="Image 5" descr="/home/claude/deck/icons/file-d.png">    </p:cNvPr>
          <p:cNvPicPr>
            <a:picLocks noChangeAspect="1"/>
          </p:cNvPicPr>
          <p:nvPr/>
        </p:nvPicPr>
        <p:blipFill>
          <a:blip r:embed="rId6"/>
          <a:stretch>
            <a:fillRect/>
          </a:stretch>
        </p:blipFill>
        <p:spPr>
          <a:xfrm>
            <a:off x="3997391" y="4674047"/>
            <a:ext cx="289682" cy="289682"/>
          </a:xfrm>
          <a:prstGeom prst="rect">
            <a:avLst/>
          </a:prstGeom>
        </p:spPr>
      </p:pic>
      <p:sp>
        <p:nvSpPr>
          <p:cNvPr id="21" name="Text 13"/>
          <p:cNvSpPr txBox="1"/>
          <p:nvPr/>
        </p:nvSpPr>
        <p:spPr>
          <a:xfrm>
            <a:off x="4617720" y="4489704"/>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Nothing is deleted</a:t>
            </a:r>
            <a:endParaRPr lang="en-US" sz="1550" dirty="0"/>
          </a:p>
        </p:txBody>
      </p:sp>
      <p:sp>
        <p:nvSpPr>
          <p:cNvPr id="22" name="Text 14"/>
          <p:cNvSpPr txBox="1"/>
          <p:nvPr/>
        </p:nvSpPr>
        <p:spPr>
          <a:xfrm>
            <a:off x="4617720" y="4809744"/>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cancelled or overridden pass stays in the record with the reason attached. The register only ever grows.</a:t>
            </a:r>
            <a:endParaRPr lang="en-US" sz="1200" dirty="0"/>
          </a:p>
        </p:txBody>
      </p:sp>
      <p:sp>
        <p:nvSpPr>
          <p:cNvPr id="23" name="Shape 15"/>
          <p:cNvSpPr/>
          <p:nvPr/>
        </p:nvSpPr>
        <p:spPr>
          <a:xfrm>
            <a:off x="3611880" y="5477256"/>
            <a:ext cx="786384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6"/>
          <p:cNvSpPr/>
          <p:nvPr/>
        </p:nvSpPr>
        <p:spPr>
          <a:xfrm>
            <a:off x="3840480" y="5687568"/>
            <a:ext cx="603504" cy="603504"/>
          </a:xfrm>
          <a:prstGeom prst="roundRect">
            <a:avLst>
              <a:gd name="adj" fmla="val 21212"/>
            </a:avLst>
          </a:prstGeom>
          <a:solidFill>
            <a:srgbClr val="FDF2E0"/>
          </a:solidFill>
          <a:ln w="12700">
            <a:solidFill>
              <a:srgbClr val="FDF2E0"/>
            </a:solidFill>
            <a:prstDash val="solid"/>
          </a:ln>
        </p:spPr>
      </p:sp>
      <p:pic>
        <p:nvPicPr>
          <p:cNvPr id="25" name="Image 6" descr="/home/claude/deck/icons/send-d.png">    </p:cNvPr>
          <p:cNvPicPr>
            <a:picLocks noChangeAspect="1"/>
          </p:cNvPicPr>
          <p:nvPr/>
        </p:nvPicPr>
        <p:blipFill>
          <a:blip r:embed="rId7"/>
          <a:stretch>
            <a:fillRect/>
          </a:stretch>
        </p:blipFill>
        <p:spPr>
          <a:xfrm>
            <a:off x="3997391" y="5844479"/>
            <a:ext cx="289682" cy="289682"/>
          </a:xfrm>
          <a:prstGeom prst="rect">
            <a:avLst/>
          </a:prstGeom>
        </p:spPr>
      </p:pic>
      <p:sp>
        <p:nvSpPr>
          <p:cNvPr id="26" name="Text 17"/>
          <p:cNvSpPr txBox="1"/>
          <p:nvPr/>
        </p:nvSpPr>
        <p:spPr>
          <a:xfrm>
            <a:off x="4617720" y="5660136"/>
            <a:ext cx="6675120" cy="292608"/>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Exports for the office</a:t>
            </a:r>
            <a:endParaRPr lang="en-US" sz="1550" dirty="0"/>
          </a:p>
        </p:txBody>
      </p:sp>
      <p:sp>
        <p:nvSpPr>
          <p:cNvPr id="27" name="Text 18"/>
          <p:cNvSpPr txBox="1"/>
          <p:nvPr/>
        </p:nvSpPr>
        <p:spPr>
          <a:xfrm>
            <a:off x="4617720" y="5980176"/>
            <a:ext cx="6675120" cy="42062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Any filtered view of the register exports to a spreadsheet, straight into Drive, email or WhatsApp — up to 5,000 rows.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WHEN IT MATTERS MOST</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The exceptions are the reason this exists</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Ordinary passes are the easy case. What a campus is actually judged on is the night something goes wrong.</a:t>
            </a:r>
            <a:endParaRPr lang="en-US" sz="1450" dirty="0"/>
          </a:p>
        </p:txBody>
      </p:sp>
      <p:sp>
        <p:nvSpPr>
          <p:cNvPr id="7" name="Shape 3"/>
          <p:cNvSpPr/>
          <p:nvPr/>
        </p:nvSpPr>
        <p:spPr>
          <a:xfrm>
            <a:off x="685800" y="2011680"/>
            <a:ext cx="5303520" cy="1874520"/>
          </a:xfrm>
          <a:prstGeom prst="roundRect">
            <a:avLst>
              <a:gd name="adj" fmla="val 780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78408" y="2286000"/>
            <a:ext cx="694944" cy="694944"/>
          </a:xfrm>
          <a:prstGeom prst="roundRect">
            <a:avLst>
              <a:gd name="adj" fmla="val 18421"/>
            </a:avLst>
          </a:prstGeom>
          <a:solidFill>
            <a:srgbClr val="FDEBEB"/>
          </a:solidFill>
          <a:ln w="12700">
            <a:solidFill>
              <a:srgbClr val="FDEBEB"/>
            </a:solidFill>
            <a:prstDash val="solid"/>
          </a:ln>
        </p:spPr>
      </p:sp>
      <p:pic>
        <p:nvPicPr>
          <p:cNvPr id="9" name="Image 2" descr="/home/claude/deck/icons/warn-d.png">    </p:cNvPr>
          <p:cNvPicPr>
            <a:picLocks noChangeAspect="1"/>
          </p:cNvPicPr>
          <p:nvPr/>
        </p:nvPicPr>
        <p:blipFill>
          <a:blip r:embed="rId3"/>
          <a:stretch>
            <a:fillRect/>
          </a:stretch>
        </p:blipFill>
        <p:spPr>
          <a:xfrm>
            <a:off x="1159093" y="2466685"/>
            <a:ext cx="333573" cy="333573"/>
          </a:xfrm>
          <a:prstGeom prst="rect">
            <a:avLst/>
          </a:prstGeom>
        </p:spPr>
      </p:pic>
      <p:sp>
        <p:nvSpPr>
          <p:cNvPr id="10" name="Text 5"/>
          <p:cNvSpPr txBox="1"/>
          <p:nvPr/>
        </p:nvSpPr>
        <p:spPr>
          <a:xfrm>
            <a:off x="1819656" y="2468880"/>
            <a:ext cx="3886200" cy="329184"/>
          </a:xfrm>
          <a:prstGeom prst="rect">
            <a:avLst/>
          </a:prstGeom>
          <a:noFill/>
          <a:ln/>
        </p:spPr>
        <p:txBody>
          <a:bodyPr wrap="square" lIns="0" tIns="0" rIns="0" bIns="0" rtlCol="0" anchor="ctr"/>
          <a:lstStyle/>
          <a:p>
            <a:pPr indent="0" marL="0">
              <a:buNone/>
            </a:pPr>
            <a:r>
              <a:rPr lang="en-US" sz="1700" b="1" dirty="0">
                <a:solidFill>
                  <a:srgbClr val="18181B"/>
                </a:solidFill>
                <a:latin typeface="Calibri" pitchFamily="34" charset="0"/>
                <a:ea typeface="Calibri" pitchFamily="34" charset="-122"/>
                <a:cs typeface="Calibri" pitchFamily="34" charset="-120"/>
              </a:rPr>
              <a:t>Emergency in two taps</a:t>
            </a:r>
            <a:endParaRPr lang="en-US" sz="1700" dirty="0"/>
          </a:p>
        </p:txBody>
      </p:sp>
      <p:sp>
        <p:nvSpPr>
          <p:cNvPr id="11" name="Text 6"/>
          <p:cNvSpPr txBox="1"/>
          <p:nvPr/>
        </p:nvSpPr>
        <p:spPr>
          <a:xfrm>
            <a:off x="978408" y="3090672"/>
            <a:ext cx="4718304" cy="731520"/>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Medical, family, safety or other. Every warden on that site is alerted the moment it is raised, and the alert is acknowledged and resolved on the record.</a:t>
            </a:r>
            <a:endParaRPr lang="en-US" sz="1250" dirty="0"/>
          </a:p>
        </p:txBody>
      </p:sp>
      <p:sp>
        <p:nvSpPr>
          <p:cNvPr id="12" name="Shape 7"/>
          <p:cNvSpPr/>
          <p:nvPr/>
        </p:nvSpPr>
        <p:spPr>
          <a:xfrm>
            <a:off x="6217920" y="2011680"/>
            <a:ext cx="5303520" cy="1874520"/>
          </a:xfrm>
          <a:prstGeom prst="roundRect">
            <a:avLst>
              <a:gd name="adj" fmla="val 780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8"/>
          <p:cNvSpPr/>
          <p:nvPr/>
        </p:nvSpPr>
        <p:spPr>
          <a:xfrm>
            <a:off x="6510528" y="2286000"/>
            <a:ext cx="694944" cy="694944"/>
          </a:xfrm>
          <a:prstGeom prst="roundRect">
            <a:avLst>
              <a:gd name="adj" fmla="val 18421"/>
            </a:avLst>
          </a:prstGeom>
          <a:solidFill>
            <a:srgbClr val="FDF2E0"/>
          </a:solidFill>
          <a:ln w="12700">
            <a:solidFill>
              <a:srgbClr val="FDF2E0"/>
            </a:solidFill>
            <a:prstDash val="solid"/>
          </a:ln>
        </p:spPr>
      </p:sp>
      <p:pic>
        <p:nvPicPr>
          <p:cNvPr id="14" name="Image 3" descr="/home/claude/deck/icons/clock-d.png">    </p:cNvPr>
          <p:cNvPicPr>
            <a:picLocks noChangeAspect="1"/>
          </p:cNvPicPr>
          <p:nvPr/>
        </p:nvPicPr>
        <p:blipFill>
          <a:blip r:embed="rId4"/>
          <a:stretch>
            <a:fillRect/>
          </a:stretch>
        </p:blipFill>
        <p:spPr>
          <a:xfrm>
            <a:off x="6691213" y="2466685"/>
            <a:ext cx="333573" cy="333573"/>
          </a:xfrm>
          <a:prstGeom prst="rect">
            <a:avLst/>
          </a:prstGeom>
        </p:spPr>
      </p:pic>
      <p:sp>
        <p:nvSpPr>
          <p:cNvPr id="15" name="Text 9"/>
          <p:cNvSpPr txBox="1"/>
          <p:nvPr/>
        </p:nvSpPr>
        <p:spPr>
          <a:xfrm>
            <a:off x="7351776" y="2468880"/>
            <a:ext cx="3886200" cy="329184"/>
          </a:xfrm>
          <a:prstGeom prst="rect">
            <a:avLst/>
          </a:prstGeom>
          <a:noFill/>
          <a:ln/>
        </p:spPr>
        <p:txBody>
          <a:bodyPr wrap="square" lIns="0" tIns="0" rIns="0" bIns="0" rtlCol="0" anchor="ctr"/>
          <a:lstStyle/>
          <a:p>
            <a:pPr indent="0" marL="0">
              <a:buNone/>
            </a:pPr>
            <a:r>
              <a:rPr lang="en-US" sz="1700" b="1" dirty="0">
                <a:solidFill>
                  <a:srgbClr val="18181B"/>
                </a:solidFill>
                <a:latin typeface="Calibri" pitchFamily="34" charset="0"/>
                <a:ea typeface="Calibri" pitchFamily="34" charset="-122"/>
                <a:cs typeface="Calibri" pitchFamily="34" charset="-120"/>
              </a:rPr>
              <a:t>Late returns, logged and seen</a:t>
            </a:r>
            <a:endParaRPr lang="en-US" sz="1700" dirty="0"/>
          </a:p>
        </p:txBody>
      </p:sp>
      <p:sp>
        <p:nvSpPr>
          <p:cNvPr id="16" name="Text 10"/>
          <p:cNvSpPr txBox="1"/>
          <p:nvPr/>
        </p:nvSpPr>
        <p:spPr>
          <a:xfrm>
            <a:off x="6510528" y="3090672"/>
            <a:ext cx="4718304" cy="731520"/>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A late entry is written against the student, shown to the guardian, and read by the warden when the next request is cleared.</a:t>
            </a:r>
            <a:endParaRPr lang="en-US" sz="1250" dirty="0"/>
          </a:p>
        </p:txBody>
      </p:sp>
      <p:sp>
        <p:nvSpPr>
          <p:cNvPr id="17" name="Shape 11"/>
          <p:cNvSpPr/>
          <p:nvPr/>
        </p:nvSpPr>
        <p:spPr>
          <a:xfrm>
            <a:off x="685800" y="4096512"/>
            <a:ext cx="5303520" cy="1874520"/>
          </a:xfrm>
          <a:prstGeom prst="roundRect">
            <a:avLst>
              <a:gd name="adj" fmla="val 780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2"/>
          <p:cNvSpPr/>
          <p:nvPr/>
        </p:nvSpPr>
        <p:spPr>
          <a:xfrm>
            <a:off x="978408" y="4370832"/>
            <a:ext cx="694944" cy="694944"/>
          </a:xfrm>
          <a:prstGeom prst="roundRect">
            <a:avLst>
              <a:gd name="adj" fmla="val 18421"/>
            </a:avLst>
          </a:prstGeom>
          <a:solidFill>
            <a:srgbClr val="E5F3FC"/>
          </a:solidFill>
          <a:ln w="12700">
            <a:solidFill>
              <a:srgbClr val="E5F3FC"/>
            </a:solidFill>
            <a:prstDash val="solid"/>
          </a:ln>
        </p:spPr>
      </p:sp>
      <p:pic>
        <p:nvPicPr>
          <p:cNvPr id="19" name="Image 4" descr="/home/claude/deck/icons/phone-d.png">    </p:cNvPr>
          <p:cNvPicPr>
            <a:picLocks noChangeAspect="1"/>
          </p:cNvPicPr>
          <p:nvPr/>
        </p:nvPicPr>
        <p:blipFill>
          <a:blip r:embed="rId5"/>
          <a:stretch>
            <a:fillRect/>
          </a:stretch>
        </p:blipFill>
        <p:spPr>
          <a:xfrm>
            <a:off x="1159093" y="4551517"/>
            <a:ext cx="333573" cy="333573"/>
          </a:xfrm>
          <a:prstGeom prst="rect">
            <a:avLst/>
          </a:prstGeom>
        </p:spPr>
      </p:pic>
      <p:sp>
        <p:nvSpPr>
          <p:cNvPr id="20" name="Text 13"/>
          <p:cNvSpPr txBox="1"/>
          <p:nvPr/>
        </p:nvSpPr>
        <p:spPr>
          <a:xfrm>
            <a:off x="1819656" y="4553712"/>
            <a:ext cx="3886200" cy="329184"/>
          </a:xfrm>
          <a:prstGeom prst="rect">
            <a:avLst/>
          </a:prstGeom>
          <a:noFill/>
          <a:ln/>
        </p:spPr>
        <p:txBody>
          <a:bodyPr wrap="square" lIns="0" tIns="0" rIns="0" bIns="0" rtlCol="0" anchor="ctr"/>
          <a:lstStyle/>
          <a:p>
            <a:pPr indent="0" marL="0">
              <a:buNone/>
            </a:pPr>
            <a:r>
              <a:rPr lang="en-US" sz="1700" b="1" dirty="0">
                <a:solidFill>
                  <a:srgbClr val="18181B"/>
                </a:solidFill>
                <a:latin typeface="Calibri" pitchFamily="34" charset="0"/>
                <a:ea typeface="Calibri" pitchFamily="34" charset="-122"/>
                <a:cs typeface="Calibri" pitchFamily="34" charset="-120"/>
              </a:rPr>
              <a:t>Guardian unreachable has a name</a:t>
            </a:r>
            <a:endParaRPr lang="en-US" sz="1700" dirty="0"/>
          </a:p>
        </p:txBody>
      </p:sp>
      <p:sp>
        <p:nvSpPr>
          <p:cNvPr id="21" name="Text 14"/>
          <p:cNvSpPr txBox="1"/>
          <p:nvPr/>
        </p:nvSpPr>
        <p:spPr>
          <a:xfrm>
            <a:off x="978408" y="5175504"/>
            <a:ext cx="4718304" cy="731520"/>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No response in time escalates to the warden. Unreachable is recorded as unreachable, not left as pending.</a:t>
            </a:r>
            <a:endParaRPr lang="en-US" sz="1250" dirty="0"/>
          </a:p>
        </p:txBody>
      </p:sp>
      <p:sp>
        <p:nvSpPr>
          <p:cNvPr id="22" name="Shape 15"/>
          <p:cNvSpPr/>
          <p:nvPr/>
        </p:nvSpPr>
        <p:spPr>
          <a:xfrm>
            <a:off x="6217920" y="4096512"/>
            <a:ext cx="5303520" cy="1874520"/>
          </a:xfrm>
          <a:prstGeom prst="roundRect">
            <a:avLst>
              <a:gd name="adj" fmla="val 7805"/>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Shape 16"/>
          <p:cNvSpPr/>
          <p:nvPr/>
        </p:nvSpPr>
        <p:spPr>
          <a:xfrm>
            <a:off x="6510528" y="4370832"/>
            <a:ext cx="694944" cy="694944"/>
          </a:xfrm>
          <a:prstGeom prst="roundRect">
            <a:avLst>
              <a:gd name="adj" fmla="val 18421"/>
            </a:avLst>
          </a:prstGeom>
          <a:solidFill>
            <a:srgbClr val="E8F6F1"/>
          </a:solidFill>
          <a:ln w="12700">
            <a:solidFill>
              <a:srgbClr val="E8F6F1"/>
            </a:solidFill>
            <a:prstDash val="solid"/>
          </a:ln>
        </p:spPr>
      </p:sp>
      <p:pic>
        <p:nvPicPr>
          <p:cNvPr id="24" name="Image 5" descr="/home/claude/deck/icons/shield-d.png">    </p:cNvPr>
          <p:cNvPicPr>
            <a:picLocks noChangeAspect="1"/>
          </p:cNvPicPr>
          <p:nvPr/>
        </p:nvPicPr>
        <p:blipFill>
          <a:blip r:embed="rId6"/>
          <a:stretch>
            <a:fillRect/>
          </a:stretch>
        </p:blipFill>
        <p:spPr>
          <a:xfrm>
            <a:off x="6691213" y="4551517"/>
            <a:ext cx="333573" cy="333573"/>
          </a:xfrm>
          <a:prstGeom prst="rect">
            <a:avLst/>
          </a:prstGeom>
        </p:spPr>
      </p:pic>
      <p:sp>
        <p:nvSpPr>
          <p:cNvPr id="25" name="Text 17"/>
          <p:cNvSpPr txBox="1"/>
          <p:nvPr/>
        </p:nvSpPr>
        <p:spPr>
          <a:xfrm>
            <a:off x="7351776" y="4553712"/>
            <a:ext cx="3886200" cy="329184"/>
          </a:xfrm>
          <a:prstGeom prst="rect">
            <a:avLst/>
          </a:prstGeom>
          <a:noFill/>
          <a:ln/>
        </p:spPr>
        <p:txBody>
          <a:bodyPr wrap="square" lIns="0" tIns="0" rIns="0" bIns="0" rtlCol="0" anchor="ctr"/>
          <a:lstStyle/>
          <a:p>
            <a:pPr indent="0" marL="0">
              <a:buNone/>
            </a:pPr>
            <a:r>
              <a:rPr lang="en-US" sz="1700" b="1" dirty="0">
                <a:solidFill>
                  <a:srgbClr val="18181B"/>
                </a:solidFill>
                <a:latin typeface="Calibri" pitchFamily="34" charset="0"/>
                <a:ea typeface="Calibri" pitchFamily="34" charset="-122"/>
                <a:cs typeface="Calibri" pitchFamily="34" charset="-120"/>
              </a:rPr>
              <a:t>Overrides are signed</a:t>
            </a:r>
            <a:endParaRPr lang="en-US" sz="1700" dirty="0"/>
          </a:p>
        </p:txBody>
      </p:sp>
      <p:sp>
        <p:nvSpPr>
          <p:cNvPr id="26" name="Text 18"/>
          <p:cNvSpPr txBox="1"/>
          <p:nvPr/>
        </p:nvSpPr>
        <p:spPr>
          <a:xfrm>
            <a:off x="6510528" y="5175504"/>
            <a:ext cx="4718304" cy="731520"/>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A warden can act on a guardian’s behalf when there is a phone call to act on — and that override is written to the audit log with who did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KEEPING EVERYONE CURRENT</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Nobody has to refresh, and nobody has to be told twice</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Decisions travel to the people waiting on them, and the screen in front of you updates as they land.</a:t>
            </a:r>
            <a:endParaRPr lang="en-US" sz="1450" dirty="0"/>
          </a:p>
        </p:txBody>
      </p:sp>
      <p:sp>
        <p:nvSpPr>
          <p:cNvPr id="7" name="Shape 3"/>
          <p:cNvSpPr/>
          <p:nvPr/>
        </p:nvSpPr>
        <p:spPr>
          <a:xfrm>
            <a:off x="685800" y="2011680"/>
            <a:ext cx="6720840" cy="1280160"/>
          </a:xfrm>
          <a:prstGeom prst="roundRect">
            <a:avLst>
              <a:gd name="adj" fmla="val 1142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32688" y="2322576"/>
            <a:ext cx="658368" cy="658368"/>
          </a:xfrm>
          <a:prstGeom prst="roundRect">
            <a:avLst>
              <a:gd name="adj" fmla="val 19444"/>
            </a:avLst>
          </a:prstGeom>
          <a:solidFill>
            <a:srgbClr val="FCECED"/>
          </a:solidFill>
          <a:ln w="12700">
            <a:solidFill>
              <a:srgbClr val="FCECED"/>
            </a:solidFill>
            <a:prstDash val="solid"/>
          </a:ln>
        </p:spPr>
      </p:sp>
      <p:pic>
        <p:nvPicPr>
          <p:cNvPr id="9" name="Image 2" descr="/home/claude/deck/icons/bell-r.png">    </p:cNvPr>
          <p:cNvPicPr>
            <a:picLocks noChangeAspect="1"/>
          </p:cNvPicPr>
          <p:nvPr/>
        </p:nvPicPr>
        <p:blipFill>
          <a:blip r:embed="rId3"/>
          <a:stretch>
            <a:fillRect/>
          </a:stretch>
        </p:blipFill>
        <p:spPr>
          <a:xfrm>
            <a:off x="1103864" y="2493752"/>
            <a:ext cx="316017" cy="316017"/>
          </a:xfrm>
          <a:prstGeom prst="rect">
            <a:avLst/>
          </a:prstGeom>
        </p:spPr>
      </p:pic>
      <p:sp>
        <p:nvSpPr>
          <p:cNvPr id="10" name="Text 5"/>
          <p:cNvSpPr txBox="1"/>
          <p:nvPr/>
        </p:nvSpPr>
        <p:spPr>
          <a:xfrm>
            <a:off x="1810512" y="2267712"/>
            <a:ext cx="544068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Push, email and SMS — per person</a:t>
            </a:r>
            <a:endParaRPr lang="en-US" sz="1600" dirty="0"/>
          </a:p>
        </p:txBody>
      </p:sp>
      <p:sp>
        <p:nvSpPr>
          <p:cNvPr id="11" name="Text 6"/>
          <p:cNvSpPr txBox="1"/>
          <p:nvPr/>
        </p:nvSpPr>
        <p:spPr>
          <a:xfrm>
            <a:off x="1810512" y="2596896"/>
            <a:ext cx="5440680" cy="56692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Each recipient chooses the channels they want. Turning push off does not lose the message; the in-app inbox still fills.</a:t>
            </a:r>
            <a:endParaRPr lang="en-US" sz="1250" dirty="0"/>
          </a:p>
        </p:txBody>
      </p:sp>
      <p:sp>
        <p:nvSpPr>
          <p:cNvPr id="12" name="Shape 7"/>
          <p:cNvSpPr/>
          <p:nvPr/>
        </p:nvSpPr>
        <p:spPr>
          <a:xfrm>
            <a:off x="685800" y="3456432"/>
            <a:ext cx="6720840" cy="1280160"/>
          </a:xfrm>
          <a:prstGeom prst="roundRect">
            <a:avLst>
              <a:gd name="adj" fmla="val 1142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8"/>
          <p:cNvSpPr/>
          <p:nvPr/>
        </p:nvSpPr>
        <p:spPr>
          <a:xfrm>
            <a:off x="932688" y="3767328"/>
            <a:ext cx="658368" cy="658368"/>
          </a:xfrm>
          <a:prstGeom prst="roundRect">
            <a:avLst>
              <a:gd name="adj" fmla="val 19444"/>
            </a:avLst>
          </a:prstGeom>
          <a:solidFill>
            <a:srgbClr val="FCECED"/>
          </a:solidFill>
          <a:ln w="12700">
            <a:solidFill>
              <a:srgbClr val="FCECED"/>
            </a:solidFill>
            <a:prstDash val="solid"/>
          </a:ln>
        </p:spPr>
      </p:sp>
      <p:pic>
        <p:nvPicPr>
          <p:cNvPr id="14" name="Image 3" descr="/home/claude/deck/icons/bolt-r.png">    </p:cNvPr>
          <p:cNvPicPr>
            <a:picLocks noChangeAspect="1"/>
          </p:cNvPicPr>
          <p:nvPr/>
        </p:nvPicPr>
        <p:blipFill>
          <a:blip r:embed="rId4"/>
          <a:stretch>
            <a:fillRect/>
          </a:stretch>
        </p:blipFill>
        <p:spPr>
          <a:xfrm>
            <a:off x="1103864" y="3938504"/>
            <a:ext cx="316017" cy="316017"/>
          </a:xfrm>
          <a:prstGeom prst="rect">
            <a:avLst/>
          </a:prstGeom>
        </p:spPr>
      </p:pic>
      <p:sp>
        <p:nvSpPr>
          <p:cNvPr id="15" name="Text 9"/>
          <p:cNvSpPr txBox="1"/>
          <p:nvPr/>
        </p:nvSpPr>
        <p:spPr>
          <a:xfrm>
            <a:off x="1810512" y="3712464"/>
            <a:ext cx="544068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Live while the app is open</a:t>
            </a:r>
            <a:endParaRPr lang="en-US" sz="1600" dirty="0"/>
          </a:p>
        </p:txBody>
      </p:sp>
      <p:sp>
        <p:nvSpPr>
          <p:cNvPr id="16" name="Text 10"/>
          <p:cNvSpPr txBox="1"/>
          <p:nvPr/>
        </p:nvSpPr>
        <p:spPr>
          <a:xfrm>
            <a:off x="1810512" y="4041648"/>
            <a:ext cx="5440680" cy="56692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A guardian approving on their phone updates the student’s screen as it happens, with no pull-to-refresh.</a:t>
            </a:r>
            <a:endParaRPr lang="en-US" sz="1250" dirty="0"/>
          </a:p>
        </p:txBody>
      </p:sp>
      <p:sp>
        <p:nvSpPr>
          <p:cNvPr id="17" name="Shape 11"/>
          <p:cNvSpPr/>
          <p:nvPr/>
        </p:nvSpPr>
        <p:spPr>
          <a:xfrm>
            <a:off x="685800" y="4901184"/>
            <a:ext cx="6720840" cy="1280160"/>
          </a:xfrm>
          <a:prstGeom prst="roundRect">
            <a:avLst>
              <a:gd name="adj" fmla="val 1142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2"/>
          <p:cNvSpPr/>
          <p:nvPr/>
        </p:nvSpPr>
        <p:spPr>
          <a:xfrm>
            <a:off x="932688" y="5212080"/>
            <a:ext cx="658368" cy="658368"/>
          </a:xfrm>
          <a:prstGeom prst="roundRect">
            <a:avLst>
              <a:gd name="adj" fmla="val 19444"/>
            </a:avLst>
          </a:prstGeom>
          <a:solidFill>
            <a:srgbClr val="FCECED"/>
          </a:solidFill>
          <a:ln w="12700">
            <a:solidFill>
              <a:srgbClr val="FCECED"/>
            </a:solidFill>
            <a:prstDash val="solid"/>
          </a:ln>
        </p:spPr>
      </p:sp>
      <p:pic>
        <p:nvPicPr>
          <p:cNvPr id="19" name="Image 4" descr="/home/claude/deck/icons/list-r.png">    </p:cNvPr>
          <p:cNvPicPr>
            <a:picLocks noChangeAspect="1"/>
          </p:cNvPicPr>
          <p:nvPr/>
        </p:nvPicPr>
        <p:blipFill>
          <a:blip r:embed="rId5"/>
          <a:stretch>
            <a:fillRect/>
          </a:stretch>
        </p:blipFill>
        <p:spPr>
          <a:xfrm>
            <a:off x="1103864" y="5383256"/>
            <a:ext cx="316017" cy="316017"/>
          </a:xfrm>
          <a:prstGeom prst="rect">
            <a:avLst/>
          </a:prstGeom>
        </p:spPr>
      </p:pic>
      <p:sp>
        <p:nvSpPr>
          <p:cNvPr id="20" name="Text 13"/>
          <p:cNvSpPr txBox="1"/>
          <p:nvPr/>
        </p:nvSpPr>
        <p:spPr>
          <a:xfrm>
            <a:off x="1810512" y="5157216"/>
            <a:ext cx="5440680" cy="292608"/>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An inbox that backs it up</a:t>
            </a:r>
            <a:endParaRPr lang="en-US" sz="1600" dirty="0"/>
          </a:p>
        </p:txBody>
      </p:sp>
      <p:sp>
        <p:nvSpPr>
          <p:cNvPr id="21" name="Text 14"/>
          <p:cNvSpPr txBox="1"/>
          <p:nvPr/>
        </p:nvSpPr>
        <p:spPr>
          <a:xfrm>
            <a:off x="1810512" y="5486400"/>
            <a:ext cx="5440680" cy="566928"/>
          </a:xfrm>
          <a:prstGeom prst="rect">
            <a:avLst/>
          </a:prstGeom>
          <a:noFill/>
          <a:ln/>
        </p:spPr>
        <p:txBody>
          <a:bodyPr wrap="square" lIns="0" tIns="0" rIns="0" bIns="0" rtlCol="0" anchor="ctr"/>
          <a:lstStyle/>
          <a:p>
            <a:pPr indent="0" marL="0">
              <a:lnSpc>
                <a:spcPts val="1700"/>
              </a:lnSpc>
              <a:buNone/>
            </a:pPr>
            <a:r>
              <a:rPr lang="en-US" sz="1250" dirty="0">
                <a:solidFill>
                  <a:srgbClr val="6B6B76"/>
                </a:solidFill>
                <a:latin typeface="Calibri" pitchFamily="34" charset="0"/>
                <a:ea typeface="Calibri" pitchFamily="34" charset="-122"/>
                <a:cs typeface="Calibri" pitchFamily="34" charset="-120"/>
              </a:rPr>
              <a:t>Every notification is kept, with an unread badge, and each one opens the exact pass or alert it refers to.</a:t>
            </a:r>
            <a:endParaRPr lang="en-US" sz="1250" dirty="0"/>
          </a:p>
        </p:txBody>
      </p:sp>
      <p:sp>
        <p:nvSpPr>
          <p:cNvPr id="22" name="Shape 15"/>
          <p:cNvSpPr/>
          <p:nvPr/>
        </p:nvSpPr>
        <p:spPr>
          <a:xfrm>
            <a:off x="7772400" y="2011680"/>
            <a:ext cx="3703320" cy="4023360"/>
          </a:xfrm>
          <a:prstGeom prst="roundRect">
            <a:avLst>
              <a:gd name="adj" fmla="val 3951"/>
            </a:avLst>
          </a:prstGeom>
          <a:solidFill>
            <a:srgbClr val="FBFBFB"/>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Text 16"/>
          <p:cNvSpPr txBox="1"/>
          <p:nvPr/>
        </p:nvSpPr>
        <p:spPr>
          <a:xfrm>
            <a:off x="8065008" y="2286000"/>
            <a:ext cx="3108960" cy="27432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What triggers a message</a:t>
            </a:r>
            <a:endParaRPr lang="en-US" sz="1500" dirty="0"/>
          </a:p>
        </p:txBody>
      </p:sp>
      <p:sp>
        <p:nvSpPr>
          <p:cNvPr id="24" name="Shape 17"/>
          <p:cNvSpPr/>
          <p:nvPr/>
        </p:nvSpPr>
        <p:spPr>
          <a:xfrm>
            <a:off x="8119872" y="2866644"/>
            <a:ext cx="100584" cy="100584"/>
          </a:xfrm>
          <a:prstGeom prst="ellipse">
            <a:avLst/>
          </a:prstGeom>
          <a:solidFill>
            <a:srgbClr val="B9000E"/>
          </a:solidFill>
          <a:ln w="12700">
            <a:solidFill>
              <a:srgbClr val="B9000E"/>
            </a:solidFill>
            <a:prstDash val="solid"/>
          </a:ln>
        </p:spPr>
      </p:sp>
      <p:sp>
        <p:nvSpPr>
          <p:cNvPr id="25" name="Text 18"/>
          <p:cNvSpPr txBox="1"/>
          <p:nvPr/>
        </p:nvSpPr>
        <p:spPr>
          <a:xfrm>
            <a:off x="8357616" y="2743200"/>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 request needs your approval</a:t>
            </a:r>
            <a:endParaRPr lang="en-US" sz="1250" dirty="0"/>
          </a:p>
        </p:txBody>
      </p:sp>
      <p:sp>
        <p:nvSpPr>
          <p:cNvPr id="26" name="Shape 19"/>
          <p:cNvSpPr/>
          <p:nvPr/>
        </p:nvSpPr>
        <p:spPr>
          <a:xfrm>
            <a:off x="8119872" y="3378708"/>
            <a:ext cx="100584" cy="100584"/>
          </a:xfrm>
          <a:prstGeom prst="ellipse">
            <a:avLst/>
          </a:prstGeom>
          <a:solidFill>
            <a:srgbClr val="B9000E"/>
          </a:solidFill>
          <a:ln w="12700">
            <a:solidFill>
              <a:srgbClr val="B9000E"/>
            </a:solidFill>
            <a:prstDash val="solid"/>
          </a:ln>
        </p:spPr>
      </p:sp>
      <p:sp>
        <p:nvSpPr>
          <p:cNvPr id="27" name="Text 20"/>
          <p:cNvSpPr txBox="1"/>
          <p:nvPr/>
        </p:nvSpPr>
        <p:spPr>
          <a:xfrm>
            <a:off x="8357616" y="3255264"/>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 guardian approved or refused</a:t>
            </a:r>
            <a:endParaRPr lang="en-US" sz="1250" dirty="0"/>
          </a:p>
        </p:txBody>
      </p:sp>
      <p:sp>
        <p:nvSpPr>
          <p:cNvPr id="28" name="Shape 21"/>
          <p:cNvSpPr/>
          <p:nvPr/>
        </p:nvSpPr>
        <p:spPr>
          <a:xfrm>
            <a:off x="8119872" y="3890772"/>
            <a:ext cx="100584" cy="100584"/>
          </a:xfrm>
          <a:prstGeom prst="ellipse">
            <a:avLst/>
          </a:prstGeom>
          <a:solidFill>
            <a:srgbClr val="B9000E"/>
          </a:solidFill>
          <a:ln w="12700">
            <a:solidFill>
              <a:srgbClr val="B9000E"/>
            </a:solidFill>
            <a:prstDash val="solid"/>
          </a:ln>
        </p:spPr>
      </p:sp>
      <p:sp>
        <p:nvSpPr>
          <p:cNvPr id="29" name="Text 22"/>
          <p:cNvSpPr txBox="1"/>
          <p:nvPr/>
        </p:nvSpPr>
        <p:spPr>
          <a:xfrm>
            <a:off x="8357616" y="3767328"/>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 warden cleared or rejected</a:t>
            </a:r>
            <a:endParaRPr lang="en-US" sz="1250" dirty="0"/>
          </a:p>
        </p:txBody>
      </p:sp>
      <p:sp>
        <p:nvSpPr>
          <p:cNvPr id="30" name="Shape 23"/>
          <p:cNvSpPr/>
          <p:nvPr/>
        </p:nvSpPr>
        <p:spPr>
          <a:xfrm>
            <a:off x="8119872" y="4402836"/>
            <a:ext cx="100584" cy="100584"/>
          </a:xfrm>
          <a:prstGeom prst="ellipse">
            <a:avLst/>
          </a:prstGeom>
          <a:solidFill>
            <a:srgbClr val="B9000E"/>
          </a:solidFill>
          <a:ln w="12700">
            <a:solidFill>
              <a:srgbClr val="B9000E"/>
            </a:solidFill>
            <a:prstDash val="solid"/>
          </a:ln>
        </p:spPr>
      </p:sp>
      <p:sp>
        <p:nvSpPr>
          <p:cNvPr id="31" name="Text 24"/>
          <p:cNvSpPr txBox="1"/>
          <p:nvPr/>
        </p:nvSpPr>
        <p:spPr>
          <a:xfrm>
            <a:off x="8357616" y="4279392"/>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 student scanned out or in</a:t>
            </a:r>
            <a:endParaRPr lang="en-US" sz="1250" dirty="0"/>
          </a:p>
        </p:txBody>
      </p:sp>
      <p:sp>
        <p:nvSpPr>
          <p:cNvPr id="32" name="Shape 25"/>
          <p:cNvSpPr/>
          <p:nvPr/>
        </p:nvSpPr>
        <p:spPr>
          <a:xfrm>
            <a:off x="8119872" y="4914900"/>
            <a:ext cx="100584" cy="100584"/>
          </a:xfrm>
          <a:prstGeom prst="ellipse">
            <a:avLst/>
          </a:prstGeom>
          <a:solidFill>
            <a:srgbClr val="B9000E"/>
          </a:solidFill>
          <a:ln w="12700">
            <a:solidFill>
              <a:srgbClr val="B9000E"/>
            </a:solidFill>
            <a:prstDash val="solid"/>
          </a:ln>
        </p:spPr>
      </p:sp>
      <p:sp>
        <p:nvSpPr>
          <p:cNvPr id="33" name="Text 26"/>
          <p:cNvSpPr txBox="1"/>
          <p:nvPr/>
        </p:nvSpPr>
        <p:spPr>
          <a:xfrm>
            <a:off x="8357616" y="4791456"/>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An emergency was raised</a:t>
            </a:r>
            <a:endParaRPr lang="en-US" sz="1250" dirty="0"/>
          </a:p>
        </p:txBody>
      </p:sp>
      <p:sp>
        <p:nvSpPr>
          <p:cNvPr id="34" name="Shape 27"/>
          <p:cNvSpPr/>
          <p:nvPr/>
        </p:nvSpPr>
        <p:spPr>
          <a:xfrm>
            <a:off x="8119872" y="5426964"/>
            <a:ext cx="100584" cy="100584"/>
          </a:xfrm>
          <a:prstGeom prst="ellipse">
            <a:avLst/>
          </a:prstGeom>
          <a:solidFill>
            <a:srgbClr val="B9000E"/>
          </a:solidFill>
          <a:ln w="12700">
            <a:solidFill>
              <a:srgbClr val="B9000E"/>
            </a:solidFill>
            <a:prstDash val="solid"/>
          </a:ln>
        </p:spPr>
      </p:sp>
      <p:sp>
        <p:nvSpPr>
          <p:cNvPr id="35" name="Text 28"/>
          <p:cNvSpPr txBox="1"/>
          <p:nvPr/>
        </p:nvSpPr>
        <p:spPr>
          <a:xfrm>
            <a:off x="8357616" y="5303520"/>
            <a:ext cx="2926080" cy="310896"/>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A campus announcement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PRACTICALITIES</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It has to work on the phones your students actually own</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Built as one Android app, small enough to download on hostel wi-fi, and already meeting Google Play’s newest requirements.</a:t>
            </a:r>
            <a:endParaRPr lang="en-US" sz="1450" dirty="0"/>
          </a:p>
        </p:txBody>
      </p:sp>
      <p:sp>
        <p:nvSpPr>
          <p:cNvPr id="7" name="Shape 3"/>
          <p:cNvSpPr/>
          <p:nvPr/>
        </p:nvSpPr>
        <p:spPr>
          <a:xfrm>
            <a:off x="685800" y="1965960"/>
            <a:ext cx="2651760" cy="2148840"/>
          </a:xfrm>
          <a:prstGeom prst="roundRect">
            <a:avLst>
              <a:gd name="adj" fmla="val 680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Text 4"/>
          <p:cNvSpPr txBox="1"/>
          <p:nvPr/>
        </p:nvSpPr>
        <p:spPr>
          <a:xfrm>
            <a:off x="941832" y="2212848"/>
            <a:ext cx="2139696" cy="603504"/>
          </a:xfrm>
          <a:prstGeom prst="rect">
            <a:avLst/>
          </a:prstGeom>
          <a:noFill/>
          <a:ln/>
        </p:spPr>
        <p:txBody>
          <a:bodyPr wrap="square" lIns="0" tIns="0" rIns="0" bIns="0" rtlCol="0" anchor="ctr"/>
          <a:lstStyle/>
          <a:p>
            <a:pPr indent="0" marL="0">
              <a:buNone/>
            </a:pPr>
            <a:r>
              <a:rPr lang="en-US" sz="3300" b="1" dirty="0">
                <a:solidFill>
                  <a:srgbClr val="B9000E"/>
                </a:solidFill>
                <a:latin typeface="Calibri" pitchFamily="34" charset="0"/>
                <a:ea typeface="Calibri" pitchFamily="34" charset="-122"/>
                <a:cs typeface="Calibri" pitchFamily="34" charset="-120"/>
              </a:rPr>
              <a:t>24 MB</a:t>
            </a:r>
            <a:endParaRPr lang="en-US" sz="3300" dirty="0"/>
          </a:p>
        </p:txBody>
      </p:sp>
      <p:sp>
        <p:nvSpPr>
          <p:cNvPr id="9" name="Text 5"/>
          <p:cNvSpPr txBox="1"/>
          <p:nvPr/>
        </p:nvSpPr>
        <p:spPr>
          <a:xfrm>
            <a:off x="941832" y="2779776"/>
            <a:ext cx="2139696" cy="274320"/>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Download size</a:t>
            </a:r>
            <a:endParaRPr lang="en-US" sz="1350" dirty="0"/>
          </a:p>
        </p:txBody>
      </p:sp>
      <p:sp>
        <p:nvSpPr>
          <p:cNvPr id="10" name="Text 6"/>
          <p:cNvSpPr txBox="1"/>
          <p:nvPr/>
        </p:nvSpPr>
        <p:spPr>
          <a:xfrm>
            <a:off x="941832" y="3090672"/>
            <a:ext cx="2157984" cy="822960"/>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Smaller than most messaging apps. Installs over a weak connection.</a:t>
            </a:r>
            <a:endParaRPr lang="en-US" sz="1150" dirty="0"/>
          </a:p>
        </p:txBody>
      </p:sp>
      <p:sp>
        <p:nvSpPr>
          <p:cNvPr id="11" name="Shape 7"/>
          <p:cNvSpPr/>
          <p:nvPr/>
        </p:nvSpPr>
        <p:spPr>
          <a:xfrm>
            <a:off x="3474720" y="1965960"/>
            <a:ext cx="2651760" cy="2148840"/>
          </a:xfrm>
          <a:prstGeom prst="roundRect">
            <a:avLst>
              <a:gd name="adj" fmla="val 680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2" name="Text 8"/>
          <p:cNvSpPr txBox="1"/>
          <p:nvPr/>
        </p:nvSpPr>
        <p:spPr>
          <a:xfrm>
            <a:off x="3730752" y="2212848"/>
            <a:ext cx="2139696" cy="603504"/>
          </a:xfrm>
          <a:prstGeom prst="rect">
            <a:avLst/>
          </a:prstGeom>
          <a:noFill/>
          <a:ln/>
        </p:spPr>
        <p:txBody>
          <a:bodyPr wrap="square" lIns="0" tIns="0" rIns="0" bIns="0" rtlCol="0" anchor="ctr"/>
          <a:lstStyle/>
          <a:p>
            <a:pPr indent="0" marL="0">
              <a:buNone/>
            </a:pPr>
            <a:r>
              <a:rPr lang="en-US" sz="3300" b="1" dirty="0">
                <a:solidFill>
                  <a:srgbClr val="B9000E"/>
                </a:solidFill>
                <a:latin typeface="Calibri" pitchFamily="34" charset="0"/>
                <a:ea typeface="Calibri" pitchFamily="34" charset="-122"/>
                <a:cs typeface="Calibri" pitchFamily="34" charset="-120"/>
              </a:rPr>
              <a:t>Android 7+</a:t>
            </a:r>
            <a:endParaRPr lang="en-US" sz="3300" dirty="0"/>
          </a:p>
        </p:txBody>
      </p:sp>
      <p:sp>
        <p:nvSpPr>
          <p:cNvPr id="13" name="Text 9"/>
          <p:cNvSpPr txBox="1"/>
          <p:nvPr/>
        </p:nvSpPr>
        <p:spPr>
          <a:xfrm>
            <a:off x="3730752" y="2779776"/>
            <a:ext cx="2139696" cy="274320"/>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Devices covered</a:t>
            </a:r>
            <a:endParaRPr lang="en-US" sz="1350" dirty="0"/>
          </a:p>
        </p:txBody>
      </p:sp>
      <p:sp>
        <p:nvSpPr>
          <p:cNvPr id="14" name="Text 10"/>
          <p:cNvSpPr txBox="1"/>
          <p:nvPr/>
        </p:nvSpPr>
        <p:spPr>
          <a:xfrm>
            <a:off x="3730752" y="3090672"/>
            <a:ext cx="2157984" cy="822960"/>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Nine years of phones, including budget handsets.</a:t>
            </a:r>
            <a:endParaRPr lang="en-US" sz="1150" dirty="0"/>
          </a:p>
        </p:txBody>
      </p:sp>
      <p:sp>
        <p:nvSpPr>
          <p:cNvPr id="15" name="Shape 11"/>
          <p:cNvSpPr/>
          <p:nvPr/>
        </p:nvSpPr>
        <p:spPr>
          <a:xfrm>
            <a:off x="6263640" y="1965960"/>
            <a:ext cx="2651760" cy="2148840"/>
          </a:xfrm>
          <a:prstGeom prst="roundRect">
            <a:avLst>
              <a:gd name="adj" fmla="val 680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6" name="Text 12"/>
          <p:cNvSpPr txBox="1"/>
          <p:nvPr/>
        </p:nvSpPr>
        <p:spPr>
          <a:xfrm>
            <a:off x="6519672" y="2212848"/>
            <a:ext cx="2139696" cy="603504"/>
          </a:xfrm>
          <a:prstGeom prst="rect">
            <a:avLst/>
          </a:prstGeom>
          <a:noFill/>
          <a:ln/>
        </p:spPr>
        <p:txBody>
          <a:bodyPr wrap="square" lIns="0" tIns="0" rIns="0" bIns="0" rtlCol="0" anchor="ctr"/>
          <a:lstStyle/>
          <a:p>
            <a:pPr indent="0" marL="0">
              <a:buNone/>
            </a:pPr>
            <a:r>
              <a:rPr lang="en-US" sz="3300" b="1" dirty="0">
                <a:solidFill>
                  <a:srgbClr val="B9000E"/>
                </a:solidFill>
                <a:latin typeface="Calibri" pitchFamily="34" charset="0"/>
                <a:ea typeface="Calibri" pitchFamily="34" charset="-122"/>
                <a:cs typeface="Calibri" pitchFamily="34" charset="-120"/>
              </a:rPr>
              <a:t>21</a:t>
            </a:r>
            <a:endParaRPr lang="en-US" sz="3300" dirty="0"/>
          </a:p>
        </p:txBody>
      </p:sp>
      <p:sp>
        <p:nvSpPr>
          <p:cNvPr id="17" name="Text 13"/>
          <p:cNvSpPr txBox="1"/>
          <p:nvPr/>
        </p:nvSpPr>
        <p:spPr>
          <a:xfrm>
            <a:off x="6519672" y="2779776"/>
            <a:ext cx="2139696" cy="274320"/>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Screens</a:t>
            </a:r>
            <a:endParaRPr lang="en-US" sz="1350" dirty="0"/>
          </a:p>
        </p:txBody>
      </p:sp>
      <p:sp>
        <p:nvSpPr>
          <p:cNvPr id="18" name="Text 14"/>
          <p:cNvSpPr txBox="1"/>
          <p:nvPr/>
        </p:nvSpPr>
        <p:spPr>
          <a:xfrm>
            <a:off x="6519672" y="3090672"/>
            <a:ext cx="2157984" cy="822960"/>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Students, guardians and wardens, in one app.</a:t>
            </a:r>
            <a:endParaRPr lang="en-US" sz="1150" dirty="0"/>
          </a:p>
        </p:txBody>
      </p:sp>
      <p:sp>
        <p:nvSpPr>
          <p:cNvPr id="19" name="Shape 15"/>
          <p:cNvSpPr/>
          <p:nvPr/>
        </p:nvSpPr>
        <p:spPr>
          <a:xfrm>
            <a:off x="9052560" y="1965960"/>
            <a:ext cx="2651760" cy="2148840"/>
          </a:xfrm>
          <a:prstGeom prst="roundRect">
            <a:avLst>
              <a:gd name="adj" fmla="val 680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0" name="Text 16"/>
          <p:cNvSpPr txBox="1"/>
          <p:nvPr/>
        </p:nvSpPr>
        <p:spPr>
          <a:xfrm>
            <a:off x="9308592" y="2212848"/>
            <a:ext cx="2139696" cy="603504"/>
          </a:xfrm>
          <a:prstGeom prst="rect">
            <a:avLst/>
          </a:prstGeom>
          <a:noFill/>
          <a:ln/>
        </p:spPr>
        <p:txBody>
          <a:bodyPr wrap="square" lIns="0" tIns="0" rIns="0" bIns="0" rtlCol="0" anchor="ctr"/>
          <a:lstStyle/>
          <a:p>
            <a:pPr indent="0" marL="0">
              <a:buNone/>
            </a:pPr>
            <a:r>
              <a:rPr lang="en-US" sz="3300" b="1" dirty="0">
                <a:solidFill>
                  <a:srgbClr val="B9000E"/>
                </a:solidFill>
                <a:latin typeface="Calibri" pitchFamily="34" charset="0"/>
                <a:ea typeface="Calibri" pitchFamily="34" charset="-122"/>
                <a:cs typeface="Calibri" pitchFamily="34" charset="-120"/>
              </a:rPr>
              <a:t>Multi-site</a:t>
            </a:r>
            <a:endParaRPr lang="en-US" sz="3300" dirty="0"/>
          </a:p>
        </p:txBody>
      </p:sp>
      <p:sp>
        <p:nvSpPr>
          <p:cNvPr id="21" name="Text 17"/>
          <p:cNvSpPr txBox="1"/>
          <p:nvPr/>
        </p:nvSpPr>
        <p:spPr>
          <a:xfrm>
            <a:off x="9308592" y="2779776"/>
            <a:ext cx="2139696" cy="274320"/>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Campuses</a:t>
            </a:r>
            <a:endParaRPr lang="en-US" sz="1350" dirty="0"/>
          </a:p>
        </p:txBody>
      </p:sp>
      <p:sp>
        <p:nvSpPr>
          <p:cNvPr id="22" name="Text 18"/>
          <p:cNvSpPr txBox="1"/>
          <p:nvPr/>
        </p:nvSpPr>
        <p:spPr>
          <a:xfrm>
            <a:off x="9308592" y="3090672"/>
            <a:ext cx="2157984" cy="822960"/>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Staff covering more than one site filter the whole app to one.</a:t>
            </a:r>
            <a:endParaRPr lang="en-US" sz="1150" dirty="0"/>
          </a:p>
        </p:txBody>
      </p:sp>
      <p:pic>
        <p:nvPicPr>
          <p:cNvPr id="23" name="Image 2" descr="/home/claude/deck/icons/refresh-r.png">    </p:cNvPr>
          <p:cNvPicPr>
            <a:picLocks noChangeAspect="1"/>
          </p:cNvPicPr>
          <p:nvPr/>
        </p:nvPicPr>
        <p:blipFill>
          <a:blip r:embed="rId3"/>
          <a:stretch>
            <a:fillRect/>
          </a:stretch>
        </p:blipFill>
        <p:spPr>
          <a:xfrm>
            <a:off x="749808" y="4389120"/>
            <a:ext cx="256032" cy="256032"/>
          </a:xfrm>
          <a:prstGeom prst="rect">
            <a:avLst/>
          </a:prstGeom>
        </p:spPr>
      </p:pic>
      <p:sp>
        <p:nvSpPr>
          <p:cNvPr id="24" name="Text 19"/>
          <p:cNvSpPr txBox="1"/>
          <p:nvPr/>
        </p:nvSpPr>
        <p:spPr>
          <a:xfrm>
            <a:off x="1152144" y="4343400"/>
            <a:ext cx="10287000" cy="512064"/>
          </a:xfrm>
          <a:prstGeom prst="rect">
            <a:avLst/>
          </a:prstGeom>
          <a:noFill/>
          <a:ln/>
        </p:spPr>
        <p:txBody>
          <a:bodyPr wrap="square" lIns="0" tIns="0" rIns="0" bIns="0" rtlCol="0" anchor="ctr"/>
          <a:lstStyle/>
          <a:p>
            <a:pPr indent="0" marL="0">
              <a:lnSpc>
                <a:spcPts val="1700"/>
              </a:lnSpc>
              <a:buNone/>
            </a:pPr>
            <a:r>
              <a:rPr lang="en-US" sz="1250" b="1" dirty="0">
                <a:solidFill>
                  <a:srgbClr val="18181B"/>
                </a:solidFill>
                <a:latin typeface="Calibri" pitchFamily="34" charset="0"/>
                <a:ea typeface="Calibri" pitchFamily="34" charset="-122"/>
                <a:cs typeface="Calibri" pitchFamily="34" charset="-120"/>
              </a:rPr>
              <a:t>Current with Google Play  </a:t>
            </a:r>
            <a:pPr indent="0" marL="0">
              <a:lnSpc>
                <a:spcPts val="1700"/>
              </a:lnSpc>
              <a:buNone/>
            </a:pPr>
            <a:r>
              <a:rPr lang="en-US" sz="1250" dirty="0">
                <a:solidFill>
                  <a:srgbClr val="6B6B76"/>
                </a:solidFill>
                <a:latin typeface="Calibri" pitchFamily="34" charset="0"/>
                <a:ea typeface="Calibri" pitchFamily="34" charset="-122"/>
                <a:cs typeface="Calibri" pitchFamily="34" charset="-120"/>
              </a:rPr>
              <a:t>— Built against Android 16 — the target every app on the Play Store must meet from 31 August 2026. Many campus apps have not made that move.</a:t>
            </a:r>
            <a:endParaRPr lang="en-US" sz="1250" dirty="0"/>
          </a:p>
        </p:txBody>
      </p:sp>
      <p:pic>
        <p:nvPicPr>
          <p:cNvPr id="25" name="Image 3" descr="/home/claude/deck/icons/bolt-r.png">    </p:cNvPr>
          <p:cNvPicPr>
            <a:picLocks noChangeAspect="1"/>
          </p:cNvPicPr>
          <p:nvPr/>
        </p:nvPicPr>
        <p:blipFill>
          <a:blip r:embed="rId4"/>
          <a:stretch>
            <a:fillRect/>
          </a:stretch>
        </p:blipFill>
        <p:spPr>
          <a:xfrm>
            <a:off x="749808" y="5010912"/>
            <a:ext cx="256032" cy="256032"/>
          </a:xfrm>
          <a:prstGeom prst="rect">
            <a:avLst/>
          </a:prstGeom>
        </p:spPr>
      </p:pic>
      <p:sp>
        <p:nvSpPr>
          <p:cNvPr id="26" name="Text 20"/>
          <p:cNvSpPr txBox="1"/>
          <p:nvPr/>
        </p:nvSpPr>
        <p:spPr>
          <a:xfrm>
            <a:off x="1152144" y="4965192"/>
            <a:ext cx="10287000" cy="512064"/>
          </a:xfrm>
          <a:prstGeom prst="rect">
            <a:avLst/>
          </a:prstGeom>
          <a:noFill/>
          <a:ln/>
        </p:spPr>
        <p:txBody>
          <a:bodyPr wrap="square" lIns="0" tIns="0" rIns="0" bIns="0" rtlCol="0" anchor="ctr"/>
          <a:lstStyle/>
          <a:p>
            <a:pPr indent="0" marL="0">
              <a:lnSpc>
                <a:spcPts val="1700"/>
              </a:lnSpc>
              <a:buNone/>
            </a:pPr>
            <a:r>
              <a:rPr lang="en-US" sz="1250" b="1" dirty="0">
                <a:solidFill>
                  <a:srgbClr val="18181B"/>
                </a:solidFill>
                <a:latin typeface="Calibri" pitchFamily="34" charset="0"/>
                <a:ea typeface="Calibri" pitchFamily="34" charset="-122"/>
                <a:cs typeface="Calibri" pitchFamily="34" charset="-120"/>
              </a:rPr>
              <a:t>Fast under load  </a:t>
            </a:r>
            <a:pPr indent="0" marL="0">
              <a:lnSpc>
                <a:spcPts val="1700"/>
              </a:lnSpc>
              <a:buNone/>
            </a:pPr>
            <a:r>
              <a:rPr lang="en-US" sz="1250" dirty="0">
                <a:solidFill>
                  <a:srgbClr val="6B6B76"/>
                </a:solidFill>
                <a:latin typeface="Calibri" pitchFamily="34" charset="0"/>
                <a:ea typeface="Calibri" pitchFamily="34" charset="-122"/>
                <a:cs typeface="Calibri" pitchFamily="34" charset="-120"/>
              </a:rPr>
              <a:t>— Lists stay smooth while searching, screens show shaped placeholders rather than spinners, and animation is dropped for anyone whose phone asks for less of it.</a:t>
            </a:r>
            <a:endParaRPr lang="en-US" sz="1250" dirty="0"/>
          </a:p>
        </p:txBody>
      </p:sp>
      <p:pic>
        <p:nvPicPr>
          <p:cNvPr id="27" name="Image 4" descr="/home/claude/deck/icons/shield-r.png">    </p:cNvPr>
          <p:cNvPicPr>
            <a:picLocks noChangeAspect="1"/>
          </p:cNvPicPr>
          <p:nvPr/>
        </p:nvPicPr>
        <p:blipFill>
          <a:blip r:embed="rId5"/>
          <a:stretch>
            <a:fillRect/>
          </a:stretch>
        </p:blipFill>
        <p:spPr>
          <a:xfrm>
            <a:off x="749808" y="5632704"/>
            <a:ext cx="256032" cy="256032"/>
          </a:xfrm>
          <a:prstGeom prst="rect">
            <a:avLst/>
          </a:prstGeom>
        </p:spPr>
      </p:pic>
      <p:sp>
        <p:nvSpPr>
          <p:cNvPr id="28" name="Text 21"/>
          <p:cNvSpPr txBox="1"/>
          <p:nvPr/>
        </p:nvSpPr>
        <p:spPr>
          <a:xfrm>
            <a:off x="1152144" y="5586984"/>
            <a:ext cx="10287000" cy="512064"/>
          </a:xfrm>
          <a:prstGeom prst="rect">
            <a:avLst/>
          </a:prstGeom>
          <a:noFill/>
          <a:ln/>
        </p:spPr>
        <p:txBody>
          <a:bodyPr wrap="square" lIns="0" tIns="0" rIns="0" bIns="0" rtlCol="0" anchor="ctr"/>
          <a:lstStyle/>
          <a:p>
            <a:pPr indent="0" marL="0">
              <a:lnSpc>
                <a:spcPts val="1700"/>
              </a:lnSpc>
              <a:buNone/>
            </a:pPr>
            <a:r>
              <a:rPr lang="en-US" sz="1250" b="1" dirty="0">
                <a:solidFill>
                  <a:srgbClr val="18181B"/>
                </a:solidFill>
                <a:latin typeface="Calibri" pitchFamily="34" charset="0"/>
                <a:ea typeface="Calibri" pitchFamily="34" charset="-122"/>
                <a:cs typeface="Calibri" pitchFamily="34" charset="-120"/>
              </a:rPr>
              <a:t>Your server, your data  </a:t>
            </a:r>
            <a:pPr indent="0" marL="0">
              <a:lnSpc>
                <a:spcPts val="1700"/>
              </a:lnSpc>
              <a:buNone/>
            </a:pPr>
            <a:r>
              <a:rPr lang="en-US" sz="1250" dirty="0">
                <a:solidFill>
                  <a:srgbClr val="6B6B76"/>
                </a:solidFill>
                <a:latin typeface="Calibri" pitchFamily="34" charset="0"/>
                <a:ea typeface="Calibri" pitchFamily="34" charset="-122"/>
                <a:cs typeface="Calibri" pitchFamily="34" charset="-120"/>
              </a:rPr>
              <a:t>— Point the app at your own backend with a single setting. Nothing is hard-wired to us.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PRIVACY BY DEFAULT</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What the app deliberately does not do</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A campus system that over-collects becomes a liability. These are choices, and we would rather explain them than hide them.</a:t>
            </a:r>
            <a:endParaRPr lang="en-US" sz="1450" dirty="0"/>
          </a:p>
        </p:txBody>
      </p:sp>
      <p:sp>
        <p:nvSpPr>
          <p:cNvPr id="7" name="Shape 3"/>
          <p:cNvSpPr/>
          <p:nvPr/>
        </p:nvSpPr>
        <p:spPr>
          <a:xfrm>
            <a:off x="685800" y="2011680"/>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14400" y="2221992"/>
            <a:ext cx="603504" cy="603504"/>
          </a:xfrm>
          <a:prstGeom prst="roundRect">
            <a:avLst>
              <a:gd name="adj" fmla="val 21212"/>
            </a:avLst>
          </a:prstGeom>
          <a:solidFill>
            <a:srgbClr val="E8F6F1"/>
          </a:solidFill>
          <a:ln w="12700">
            <a:solidFill>
              <a:srgbClr val="E8F6F1"/>
            </a:solidFill>
            <a:prstDash val="solid"/>
          </a:ln>
        </p:spPr>
      </p:sp>
      <p:pic>
        <p:nvPicPr>
          <p:cNvPr id="9" name="Image 2" descr="/home/claude/deck/icons/pin-d.png">    </p:cNvPr>
          <p:cNvPicPr>
            <a:picLocks noChangeAspect="1"/>
          </p:cNvPicPr>
          <p:nvPr/>
        </p:nvPicPr>
        <p:blipFill>
          <a:blip r:embed="rId3"/>
          <a:stretch>
            <a:fillRect/>
          </a:stretch>
        </p:blipFill>
        <p:spPr>
          <a:xfrm>
            <a:off x="1071311" y="2378903"/>
            <a:ext cx="289682" cy="289682"/>
          </a:xfrm>
          <a:prstGeom prst="rect">
            <a:avLst/>
          </a:prstGeom>
        </p:spPr>
      </p:pic>
      <p:sp>
        <p:nvSpPr>
          <p:cNvPr id="10" name="Text 5"/>
          <p:cNvSpPr txBox="1"/>
          <p:nvPr/>
        </p:nvSpPr>
        <p:spPr>
          <a:xfrm>
            <a:off x="1691640" y="2221992"/>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No background location</a:t>
            </a:r>
            <a:endParaRPr lang="en-US" sz="1550" dirty="0"/>
          </a:p>
        </p:txBody>
      </p:sp>
      <p:sp>
        <p:nvSpPr>
          <p:cNvPr id="11" name="Text 6"/>
          <p:cNvSpPr txBox="1"/>
          <p:nvPr/>
        </p:nvSpPr>
        <p:spPr>
          <a:xfrm>
            <a:off x="4434840" y="2221992"/>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Location is read only while the student has the app open, at most once a minute, and only after they have actually moved. The app never asks for background tracking permission.</a:t>
            </a:r>
            <a:endParaRPr lang="en-US" sz="1200" dirty="0"/>
          </a:p>
        </p:txBody>
      </p:sp>
      <p:sp>
        <p:nvSpPr>
          <p:cNvPr id="12" name="Shape 7"/>
          <p:cNvSpPr/>
          <p:nvPr/>
        </p:nvSpPr>
        <p:spPr>
          <a:xfrm>
            <a:off x="685800" y="3182112"/>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8"/>
          <p:cNvSpPr/>
          <p:nvPr/>
        </p:nvSpPr>
        <p:spPr>
          <a:xfrm>
            <a:off x="914400" y="3392424"/>
            <a:ext cx="603504" cy="603504"/>
          </a:xfrm>
          <a:prstGeom prst="roundRect">
            <a:avLst>
              <a:gd name="adj" fmla="val 21212"/>
            </a:avLst>
          </a:prstGeom>
          <a:solidFill>
            <a:srgbClr val="E8F6F1"/>
          </a:solidFill>
          <a:ln w="12700">
            <a:solidFill>
              <a:srgbClr val="E8F6F1"/>
            </a:solidFill>
            <a:prstDash val="solid"/>
          </a:ln>
        </p:spPr>
      </p:sp>
      <p:pic>
        <p:nvPicPr>
          <p:cNvPr id="14" name="Image 3" descr="/home/claude/deck/icons/eye-d.png">    </p:cNvPr>
          <p:cNvPicPr>
            <a:picLocks noChangeAspect="1"/>
          </p:cNvPicPr>
          <p:nvPr/>
        </p:nvPicPr>
        <p:blipFill>
          <a:blip r:embed="rId4"/>
          <a:stretch>
            <a:fillRect/>
          </a:stretch>
        </p:blipFill>
        <p:spPr>
          <a:xfrm>
            <a:off x="1071311" y="3549335"/>
            <a:ext cx="289682" cy="289682"/>
          </a:xfrm>
          <a:prstGeom prst="rect">
            <a:avLst/>
          </a:prstGeom>
        </p:spPr>
      </p:pic>
      <p:sp>
        <p:nvSpPr>
          <p:cNvPr id="15" name="Text 9"/>
          <p:cNvSpPr txBox="1"/>
          <p:nvPr/>
        </p:nvSpPr>
        <p:spPr>
          <a:xfrm>
            <a:off x="1691640" y="3392424"/>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Location is opt-in</a:t>
            </a:r>
            <a:endParaRPr lang="en-US" sz="1550" dirty="0"/>
          </a:p>
        </p:txBody>
      </p:sp>
      <p:sp>
        <p:nvSpPr>
          <p:cNvPr id="16" name="Text 10"/>
          <p:cNvSpPr txBox="1"/>
          <p:nvPr/>
        </p:nvSpPr>
        <p:spPr>
          <a:xfrm>
            <a:off x="4434840" y="3392424"/>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Off until the student turns it on from their own profile, and switchable off at any moment. Guardians still get gate scans either way.</a:t>
            </a:r>
            <a:endParaRPr lang="en-US" sz="1200" dirty="0"/>
          </a:p>
        </p:txBody>
      </p:sp>
      <p:sp>
        <p:nvSpPr>
          <p:cNvPr id="17" name="Shape 11"/>
          <p:cNvSpPr/>
          <p:nvPr/>
        </p:nvSpPr>
        <p:spPr>
          <a:xfrm>
            <a:off x="685800" y="4352544"/>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2"/>
          <p:cNvSpPr/>
          <p:nvPr/>
        </p:nvSpPr>
        <p:spPr>
          <a:xfrm>
            <a:off x="914400" y="4562856"/>
            <a:ext cx="603504" cy="603504"/>
          </a:xfrm>
          <a:prstGeom prst="roundRect">
            <a:avLst>
              <a:gd name="adj" fmla="val 21212"/>
            </a:avLst>
          </a:prstGeom>
          <a:solidFill>
            <a:srgbClr val="E8F6F1"/>
          </a:solidFill>
          <a:ln w="12700">
            <a:solidFill>
              <a:srgbClr val="E8F6F1"/>
            </a:solidFill>
            <a:prstDash val="solid"/>
          </a:ln>
        </p:spPr>
      </p:sp>
      <p:pic>
        <p:nvPicPr>
          <p:cNvPr id="19" name="Image 4" descr="/home/claude/deck/icons/lock-d.png">    </p:cNvPr>
          <p:cNvPicPr>
            <a:picLocks noChangeAspect="1"/>
          </p:cNvPicPr>
          <p:nvPr/>
        </p:nvPicPr>
        <p:blipFill>
          <a:blip r:embed="rId5"/>
          <a:stretch>
            <a:fillRect/>
          </a:stretch>
        </p:blipFill>
        <p:spPr>
          <a:xfrm>
            <a:off x="1071311" y="4719767"/>
            <a:ext cx="289682" cy="289682"/>
          </a:xfrm>
          <a:prstGeom prst="rect">
            <a:avLst/>
          </a:prstGeom>
        </p:spPr>
      </p:pic>
      <p:sp>
        <p:nvSpPr>
          <p:cNvPr id="20" name="Text 13"/>
          <p:cNvSpPr txBox="1"/>
          <p:nvPr/>
        </p:nvSpPr>
        <p:spPr>
          <a:xfrm>
            <a:off x="1691640" y="4562856"/>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Minimum permissions</a:t>
            </a:r>
            <a:endParaRPr lang="en-US" sz="1550" dirty="0"/>
          </a:p>
        </p:txBody>
      </p:sp>
      <p:sp>
        <p:nvSpPr>
          <p:cNvPr id="21" name="Text 14"/>
          <p:cNvSpPr txBox="1"/>
          <p:nvPr/>
        </p:nvSpPr>
        <p:spPr>
          <a:xfrm>
            <a:off x="4434840" y="4562856"/>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Storage and overlay permissions were removed outright. Exports go through the phone’s own share sheet, which needs no permission at all.</a:t>
            </a:r>
            <a:endParaRPr lang="en-US" sz="1200" dirty="0"/>
          </a:p>
        </p:txBody>
      </p:sp>
      <p:sp>
        <p:nvSpPr>
          <p:cNvPr id="22" name="Shape 15"/>
          <p:cNvSpPr/>
          <p:nvPr/>
        </p:nvSpPr>
        <p:spPr>
          <a:xfrm>
            <a:off x="685800" y="5522976"/>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Shape 16"/>
          <p:cNvSpPr/>
          <p:nvPr/>
        </p:nvSpPr>
        <p:spPr>
          <a:xfrm>
            <a:off x="914400" y="5733288"/>
            <a:ext cx="603504" cy="603504"/>
          </a:xfrm>
          <a:prstGeom prst="roundRect">
            <a:avLst>
              <a:gd name="adj" fmla="val 21212"/>
            </a:avLst>
          </a:prstGeom>
          <a:solidFill>
            <a:srgbClr val="E8F6F1"/>
          </a:solidFill>
          <a:ln w="12700">
            <a:solidFill>
              <a:srgbClr val="E8F6F1"/>
            </a:solidFill>
            <a:prstDash val="solid"/>
          </a:ln>
        </p:spPr>
      </p:sp>
      <p:pic>
        <p:nvPicPr>
          <p:cNvPr id="24" name="Image 5" descr="/home/claude/deck/icons/user-d.png">    </p:cNvPr>
          <p:cNvPicPr>
            <a:picLocks noChangeAspect="1"/>
          </p:cNvPicPr>
          <p:nvPr/>
        </p:nvPicPr>
        <p:blipFill>
          <a:blip r:embed="rId6"/>
          <a:stretch>
            <a:fillRect/>
          </a:stretch>
        </p:blipFill>
        <p:spPr>
          <a:xfrm>
            <a:off x="1071311" y="5890199"/>
            <a:ext cx="289682" cy="289682"/>
          </a:xfrm>
          <a:prstGeom prst="rect">
            <a:avLst/>
          </a:prstGeom>
        </p:spPr>
      </p:pic>
      <p:sp>
        <p:nvSpPr>
          <p:cNvPr id="25" name="Text 17"/>
          <p:cNvSpPr txBox="1"/>
          <p:nvPr/>
        </p:nvSpPr>
        <p:spPr>
          <a:xfrm>
            <a:off x="1691640" y="5733288"/>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Profile changes are reviewed</a:t>
            </a:r>
            <a:endParaRPr lang="en-US" sz="1550" dirty="0"/>
          </a:p>
        </p:txBody>
      </p:sp>
      <p:sp>
        <p:nvSpPr>
          <p:cNvPr id="26" name="Text 18"/>
          <p:cNvSpPr txBox="1"/>
          <p:nvPr/>
        </p:nvSpPr>
        <p:spPr>
          <a:xfrm>
            <a:off x="4434840" y="5733288"/>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A student or guardian requests a change from a field list your campus controls. Nobody edits their own record directly.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WHERE IT STANDS</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Live today, and what comes next</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Said plainly, because you will find it out in week one either way.</a:t>
            </a:r>
            <a:endParaRPr lang="en-US" sz="1450" dirty="0"/>
          </a:p>
        </p:txBody>
      </p:sp>
      <p:sp>
        <p:nvSpPr>
          <p:cNvPr id="7" name="Shape 3"/>
          <p:cNvSpPr/>
          <p:nvPr/>
        </p:nvSpPr>
        <p:spPr>
          <a:xfrm>
            <a:off x="685800" y="2011680"/>
            <a:ext cx="5303520" cy="3767328"/>
          </a:xfrm>
          <a:prstGeom prst="roundRect">
            <a:avLst>
              <a:gd name="adj" fmla="val 3883"/>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78408" y="2304288"/>
            <a:ext cx="603504" cy="603504"/>
          </a:xfrm>
          <a:prstGeom prst="roundRect">
            <a:avLst>
              <a:gd name="adj" fmla="val 21212"/>
            </a:avLst>
          </a:prstGeom>
          <a:solidFill>
            <a:srgbClr val="E8F6F1"/>
          </a:solidFill>
          <a:ln w="12700">
            <a:solidFill>
              <a:srgbClr val="E8F6F1"/>
            </a:solidFill>
            <a:prstDash val="solid"/>
          </a:ln>
        </p:spPr>
      </p:sp>
      <p:pic>
        <p:nvPicPr>
          <p:cNvPr id="9" name="Image 2" descr="/home/claude/deck/icons/check-d.png">    </p:cNvPr>
          <p:cNvPicPr>
            <a:picLocks noChangeAspect="1"/>
          </p:cNvPicPr>
          <p:nvPr/>
        </p:nvPicPr>
        <p:blipFill>
          <a:blip r:embed="rId3"/>
          <a:stretch>
            <a:fillRect/>
          </a:stretch>
        </p:blipFill>
        <p:spPr>
          <a:xfrm>
            <a:off x="1135319" y="2461199"/>
            <a:ext cx="289682" cy="289682"/>
          </a:xfrm>
          <a:prstGeom prst="rect">
            <a:avLst/>
          </a:prstGeom>
        </p:spPr>
      </p:pic>
      <p:sp>
        <p:nvSpPr>
          <p:cNvPr id="10" name="Text 5"/>
          <p:cNvSpPr txBox="1"/>
          <p:nvPr/>
        </p:nvSpPr>
        <p:spPr>
          <a:xfrm>
            <a:off x="1755648" y="2377440"/>
            <a:ext cx="3291840" cy="310896"/>
          </a:xfrm>
          <a:prstGeom prst="rect">
            <a:avLst/>
          </a:prstGeom>
          <a:noFill/>
          <a:ln/>
        </p:spPr>
        <p:txBody>
          <a:bodyPr wrap="square" lIns="0" tIns="0" rIns="0" bIns="0" rtlCol="0" anchor="ctr"/>
          <a:lstStyle/>
          <a:p>
            <a:pPr indent="0" marL="0">
              <a:buNone/>
            </a:pPr>
            <a:r>
              <a:rPr lang="en-US" sz="1800" b="1" dirty="0">
                <a:solidFill>
                  <a:srgbClr val="18181B"/>
                </a:solidFill>
                <a:latin typeface="Calibri" pitchFamily="34" charset="0"/>
                <a:ea typeface="Calibri" pitchFamily="34" charset="-122"/>
                <a:cs typeface="Calibri" pitchFamily="34" charset="-120"/>
              </a:rPr>
              <a:t>Live and in use today</a:t>
            </a:r>
            <a:endParaRPr lang="en-US" sz="1800" dirty="0"/>
          </a:p>
        </p:txBody>
      </p:sp>
      <p:pic>
        <p:nvPicPr>
          <p:cNvPr id="11" name="Image 3" descr="/home/claude/deck/icons/check-d.png">    </p:cNvPr>
          <p:cNvPicPr>
            <a:picLocks noChangeAspect="1"/>
          </p:cNvPicPr>
          <p:nvPr/>
        </p:nvPicPr>
        <p:blipFill>
          <a:blip r:embed="rId4"/>
          <a:stretch>
            <a:fillRect/>
          </a:stretch>
        </p:blipFill>
        <p:spPr>
          <a:xfrm>
            <a:off x="1005840" y="3081528"/>
            <a:ext cx="182880" cy="182880"/>
          </a:xfrm>
          <a:prstGeom prst="rect">
            <a:avLst/>
          </a:prstGeom>
        </p:spPr>
      </p:pic>
      <p:sp>
        <p:nvSpPr>
          <p:cNvPr id="12" name="Text 6"/>
          <p:cNvSpPr txBox="1"/>
          <p:nvPr/>
        </p:nvSpPr>
        <p:spPr>
          <a:xfrm>
            <a:off x="1298448" y="3026664"/>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The full request → approval → gate → return cycle</a:t>
            </a:r>
            <a:endParaRPr lang="en-US" sz="1250" dirty="0"/>
          </a:p>
        </p:txBody>
      </p:sp>
      <p:pic>
        <p:nvPicPr>
          <p:cNvPr id="13" name="Image 4" descr="/home/claude/deck/icons/check-d.png">    </p:cNvPr>
          <p:cNvPicPr>
            <a:picLocks noChangeAspect="1"/>
          </p:cNvPicPr>
          <p:nvPr/>
        </p:nvPicPr>
        <p:blipFill>
          <a:blip r:embed="rId5"/>
          <a:stretch>
            <a:fillRect/>
          </a:stretch>
        </p:blipFill>
        <p:spPr>
          <a:xfrm>
            <a:off x="1005840" y="3520440"/>
            <a:ext cx="182880" cy="182880"/>
          </a:xfrm>
          <a:prstGeom prst="rect">
            <a:avLst/>
          </a:prstGeom>
        </p:spPr>
      </p:pic>
      <p:sp>
        <p:nvSpPr>
          <p:cNvPr id="14" name="Text 7"/>
          <p:cNvSpPr txBox="1"/>
          <p:nvPr/>
        </p:nvSpPr>
        <p:spPr>
          <a:xfrm>
            <a:off x="1298448" y="3465576"/>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Guardian approvals, refusals and warden escalation</a:t>
            </a:r>
            <a:endParaRPr lang="en-US" sz="1250" dirty="0"/>
          </a:p>
        </p:txBody>
      </p:sp>
      <p:pic>
        <p:nvPicPr>
          <p:cNvPr id="15" name="Image 5" descr="/home/claude/deck/icons/check-d.png">    </p:cNvPr>
          <p:cNvPicPr>
            <a:picLocks noChangeAspect="1"/>
          </p:cNvPicPr>
          <p:nvPr/>
        </p:nvPicPr>
        <p:blipFill>
          <a:blip r:embed="rId6"/>
          <a:stretch>
            <a:fillRect/>
          </a:stretch>
        </p:blipFill>
        <p:spPr>
          <a:xfrm>
            <a:off x="1005840" y="3959352"/>
            <a:ext cx="182880" cy="182880"/>
          </a:xfrm>
          <a:prstGeom prst="rect">
            <a:avLst/>
          </a:prstGeom>
        </p:spPr>
      </p:pic>
      <p:sp>
        <p:nvSpPr>
          <p:cNvPr id="16" name="Text 8"/>
          <p:cNvSpPr txBox="1"/>
          <p:nvPr/>
        </p:nvSpPr>
        <p:spPr>
          <a:xfrm>
            <a:off x="1298448" y="3904488"/>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Emergencies, late-return logging and curfew</a:t>
            </a:r>
            <a:endParaRPr lang="en-US" sz="1250" dirty="0"/>
          </a:p>
        </p:txBody>
      </p:sp>
      <p:pic>
        <p:nvPicPr>
          <p:cNvPr id="17" name="Image 6" descr="/home/claude/deck/icons/check-d.png">    </p:cNvPr>
          <p:cNvPicPr>
            <a:picLocks noChangeAspect="1"/>
          </p:cNvPicPr>
          <p:nvPr/>
        </p:nvPicPr>
        <p:blipFill>
          <a:blip r:embed="rId7"/>
          <a:stretch>
            <a:fillRect/>
          </a:stretch>
        </p:blipFill>
        <p:spPr>
          <a:xfrm>
            <a:off x="1005840" y="4398264"/>
            <a:ext cx="182880" cy="182880"/>
          </a:xfrm>
          <a:prstGeom prst="rect">
            <a:avLst/>
          </a:prstGeom>
        </p:spPr>
      </p:pic>
      <p:sp>
        <p:nvSpPr>
          <p:cNvPr id="18" name="Text 9"/>
          <p:cNvSpPr txBox="1"/>
          <p:nvPr/>
        </p:nvSpPr>
        <p:spPr>
          <a:xfrm>
            <a:off x="1298448" y="4343400"/>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Gate scans, whereabouts and the shared timeline</a:t>
            </a:r>
            <a:endParaRPr lang="en-US" sz="1250" dirty="0"/>
          </a:p>
        </p:txBody>
      </p:sp>
      <p:pic>
        <p:nvPicPr>
          <p:cNvPr id="19" name="Image 7" descr="/home/claude/deck/icons/check-d.png">    </p:cNvPr>
          <p:cNvPicPr>
            <a:picLocks noChangeAspect="1"/>
          </p:cNvPicPr>
          <p:nvPr/>
        </p:nvPicPr>
        <p:blipFill>
          <a:blip r:embed="rId8"/>
          <a:stretch>
            <a:fillRect/>
          </a:stretch>
        </p:blipFill>
        <p:spPr>
          <a:xfrm>
            <a:off x="1005840" y="4837176"/>
            <a:ext cx="182880" cy="182880"/>
          </a:xfrm>
          <a:prstGeom prst="rect">
            <a:avLst/>
          </a:prstGeom>
        </p:spPr>
      </p:pic>
      <p:sp>
        <p:nvSpPr>
          <p:cNvPr id="20" name="Text 10"/>
          <p:cNvSpPr txBox="1"/>
          <p:nvPr/>
        </p:nvSpPr>
        <p:spPr>
          <a:xfrm>
            <a:off x="1298448" y="4782312"/>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Notifications, live updates and the in-app inbox</a:t>
            </a:r>
            <a:endParaRPr lang="en-US" sz="1250" dirty="0"/>
          </a:p>
        </p:txBody>
      </p:sp>
      <p:pic>
        <p:nvPicPr>
          <p:cNvPr id="21" name="Image 8" descr="/home/claude/deck/icons/check-d.png">    </p:cNvPr>
          <p:cNvPicPr>
            <a:picLocks noChangeAspect="1"/>
          </p:cNvPicPr>
          <p:nvPr/>
        </p:nvPicPr>
        <p:blipFill>
          <a:blip r:embed="rId9"/>
          <a:stretch>
            <a:fillRect/>
          </a:stretch>
        </p:blipFill>
        <p:spPr>
          <a:xfrm>
            <a:off x="1005840" y="5276088"/>
            <a:ext cx="182880" cy="182880"/>
          </a:xfrm>
          <a:prstGeom prst="rect">
            <a:avLst/>
          </a:prstGeom>
        </p:spPr>
      </p:pic>
      <p:sp>
        <p:nvSpPr>
          <p:cNvPr id="22" name="Text 11"/>
          <p:cNvSpPr txBox="1"/>
          <p:nvPr/>
        </p:nvSpPr>
        <p:spPr>
          <a:xfrm>
            <a:off x="1298448" y="5221224"/>
            <a:ext cx="4434840" cy="384048"/>
          </a:xfrm>
          <a:prstGeom prst="rect">
            <a:avLst/>
          </a:prstGeom>
          <a:noFill/>
          <a:ln/>
        </p:spPr>
        <p:txBody>
          <a:bodyPr wrap="square" lIns="0" tIns="0" rIns="0" bIns="0" rtlCol="0" anchor="ctr"/>
          <a:lstStyle/>
          <a:p>
            <a:pPr indent="0" marL="0">
              <a:buNone/>
            </a:pPr>
            <a:r>
              <a:rPr lang="en-US" sz="1250" dirty="0">
                <a:solidFill>
                  <a:srgbClr val="3F3F46"/>
                </a:solidFill>
                <a:latin typeface="Calibri" pitchFamily="34" charset="0"/>
                <a:ea typeface="Calibri" pitchFamily="34" charset="-122"/>
                <a:cs typeface="Calibri" pitchFamily="34" charset="-120"/>
              </a:rPr>
              <a:t>Register search, filters and spreadsheet export</a:t>
            </a:r>
            <a:endParaRPr lang="en-US" sz="1250" dirty="0"/>
          </a:p>
        </p:txBody>
      </p:sp>
      <p:sp>
        <p:nvSpPr>
          <p:cNvPr id="23" name="Shape 12"/>
          <p:cNvSpPr/>
          <p:nvPr/>
        </p:nvSpPr>
        <p:spPr>
          <a:xfrm>
            <a:off x="6172200" y="2011680"/>
            <a:ext cx="5303520" cy="3767328"/>
          </a:xfrm>
          <a:prstGeom prst="roundRect">
            <a:avLst>
              <a:gd name="adj" fmla="val 3883"/>
            </a:avLst>
          </a:prstGeom>
          <a:solidFill>
            <a:srgbClr val="FBFBFB"/>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4" name="Shape 13"/>
          <p:cNvSpPr/>
          <p:nvPr/>
        </p:nvSpPr>
        <p:spPr>
          <a:xfrm>
            <a:off x="6464808" y="2304288"/>
            <a:ext cx="603504" cy="603504"/>
          </a:xfrm>
          <a:prstGeom prst="roundRect">
            <a:avLst>
              <a:gd name="adj" fmla="val 21212"/>
            </a:avLst>
          </a:prstGeom>
          <a:solidFill>
            <a:srgbClr val="FDF2E0"/>
          </a:solidFill>
          <a:ln w="12700">
            <a:solidFill>
              <a:srgbClr val="FDF2E0"/>
            </a:solidFill>
            <a:prstDash val="solid"/>
          </a:ln>
        </p:spPr>
      </p:sp>
      <p:pic>
        <p:nvPicPr>
          <p:cNvPr id="25" name="Image 9" descr="/home/claude/deck/icons/clock-d.png">    </p:cNvPr>
          <p:cNvPicPr>
            <a:picLocks noChangeAspect="1"/>
          </p:cNvPicPr>
          <p:nvPr/>
        </p:nvPicPr>
        <p:blipFill>
          <a:blip r:embed="rId10"/>
          <a:stretch>
            <a:fillRect/>
          </a:stretch>
        </p:blipFill>
        <p:spPr>
          <a:xfrm>
            <a:off x="6621719" y="2461199"/>
            <a:ext cx="289682" cy="289682"/>
          </a:xfrm>
          <a:prstGeom prst="rect">
            <a:avLst/>
          </a:prstGeom>
        </p:spPr>
      </p:pic>
      <p:sp>
        <p:nvSpPr>
          <p:cNvPr id="26" name="Text 14"/>
          <p:cNvSpPr txBox="1"/>
          <p:nvPr/>
        </p:nvSpPr>
        <p:spPr>
          <a:xfrm>
            <a:off x="7242048" y="2377440"/>
            <a:ext cx="3291840" cy="310896"/>
          </a:xfrm>
          <a:prstGeom prst="rect">
            <a:avLst/>
          </a:prstGeom>
          <a:noFill/>
          <a:ln/>
        </p:spPr>
        <p:txBody>
          <a:bodyPr wrap="square" lIns="0" tIns="0" rIns="0" bIns="0" rtlCol="0" anchor="ctr"/>
          <a:lstStyle/>
          <a:p>
            <a:pPr indent="0" marL="0">
              <a:buNone/>
            </a:pPr>
            <a:r>
              <a:rPr lang="en-US" sz="1800" b="1" dirty="0">
                <a:solidFill>
                  <a:srgbClr val="18181B"/>
                </a:solidFill>
                <a:latin typeface="Calibri" pitchFamily="34" charset="0"/>
                <a:ea typeface="Calibri" pitchFamily="34" charset="-122"/>
                <a:cs typeface="Calibri" pitchFamily="34" charset="-120"/>
              </a:rPr>
              <a:t>Next, and why it waits</a:t>
            </a:r>
            <a:endParaRPr lang="en-US" sz="1800" dirty="0"/>
          </a:p>
        </p:txBody>
      </p:sp>
      <p:sp>
        <p:nvSpPr>
          <p:cNvPr id="27" name="Text 15"/>
          <p:cNvSpPr txBox="1"/>
          <p:nvPr/>
        </p:nvSpPr>
        <p:spPr>
          <a:xfrm>
            <a:off x="6464808" y="3017520"/>
            <a:ext cx="4754880" cy="256032"/>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A scannable QR gate pass</a:t>
            </a:r>
            <a:endParaRPr lang="en-US" sz="1350" dirty="0"/>
          </a:p>
        </p:txBody>
      </p:sp>
      <p:sp>
        <p:nvSpPr>
          <p:cNvPr id="28" name="Text 16"/>
          <p:cNvSpPr txBox="1"/>
          <p:nvPr/>
        </p:nvSpPr>
        <p:spPr>
          <a:xfrm>
            <a:off x="6464808" y="3282696"/>
            <a:ext cx="4754880" cy="585216"/>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The gate runs on warden activation and scan records today. A code that proves itself needs proper signing and expiry — we will not draw one we cannot verify.</a:t>
            </a:r>
            <a:endParaRPr lang="en-US" sz="1150" dirty="0"/>
          </a:p>
        </p:txBody>
      </p:sp>
      <p:sp>
        <p:nvSpPr>
          <p:cNvPr id="29" name="Text 17"/>
          <p:cNvSpPr txBox="1"/>
          <p:nvPr/>
        </p:nvSpPr>
        <p:spPr>
          <a:xfrm>
            <a:off x="6464808" y="3895344"/>
            <a:ext cx="4754880" cy="256032"/>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Push on iPhone</a:t>
            </a:r>
            <a:endParaRPr lang="en-US" sz="1350" dirty="0"/>
          </a:p>
        </p:txBody>
      </p:sp>
      <p:sp>
        <p:nvSpPr>
          <p:cNvPr id="30" name="Text 18"/>
          <p:cNvSpPr txBox="1"/>
          <p:nvPr/>
        </p:nvSpPr>
        <p:spPr>
          <a:xfrm>
            <a:off x="6464808" y="4160520"/>
            <a:ext cx="4754880" cy="585216"/>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Android push is live. iOS needs its own notification certificate exchanged first; until then iPhones use the in-app inbox and live updates.</a:t>
            </a:r>
            <a:endParaRPr lang="en-US" sz="1150" dirty="0"/>
          </a:p>
        </p:txBody>
      </p:sp>
      <p:sp>
        <p:nvSpPr>
          <p:cNvPr id="31" name="Text 19"/>
          <p:cNvSpPr txBox="1"/>
          <p:nvPr/>
        </p:nvSpPr>
        <p:spPr>
          <a:xfrm>
            <a:off x="6464808" y="4773168"/>
            <a:ext cx="4754880" cy="256032"/>
          </a:xfrm>
          <a:prstGeom prst="rect">
            <a:avLst/>
          </a:prstGeom>
          <a:noFill/>
          <a:ln/>
        </p:spPr>
        <p:txBody>
          <a:bodyPr wrap="square" lIns="0" tIns="0" rIns="0" bIns="0" rtlCol="0" anchor="ctr"/>
          <a:lstStyle/>
          <a:p>
            <a:pPr indent="0" marL="0">
              <a:buNone/>
            </a:pPr>
            <a:r>
              <a:rPr lang="en-US" sz="1350" b="1" dirty="0">
                <a:solidFill>
                  <a:srgbClr val="18181B"/>
                </a:solidFill>
                <a:latin typeface="Calibri" pitchFamily="34" charset="0"/>
                <a:ea typeface="Calibri" pitchFamily="34" charset="-122"/>
                <a:cs typeface="Calibri" pitchFamily="34" charset="-120"/>
              </a:rPr>
              <a:t>Per-hostel launcher icons</a:t>
            </a:r>
            <a:endParaRPr lang="en-US" sz="1350" dirty="0"/>
          </a:p>
        </p:txBody>
      </p:sp>
      <p:sp>
        <p:nvSpPr>
          <p:cNvPr id="32" name="Text 20"/>
          <p:cNvSpPr txBox="1"/>
          <p:nvPr/>
        </p:nvSpPr>
        <p:spPr>
          <a:xfrm>
            <a:off x="6464808" y="5038344"/>
            <a:ext cx="4754880" cy="585216"/>
          </a:xfrm>
          <a:prstGeom prst="rect">
            <a:avLst/>
          </a:prstGeom>
          <a:noFill/>
          <a:ln/>
        </p:spPr>
        <p:txBody>
          <a:bodyPr wrap="square" lIns="0" tIns="0" rIns="0" bIns="0" rtlCol="0" anchor="ctr"/>
          <a:lstStyle/>
          <a:p>
            <a:pPr indent="0" marL="0">
              <a:lnSpc>
                <a:spcPts val="1500"/>
              </a:lnSpc>
              <a:buNone/>
            </a:pPr>
            <a:r>
              <a:rPr lang="en-US" sz="1150" dirty="0">
                <a:solidFill>
                  <a:srgbClr val="6B6B76"/>
                </a:solidFill>
                <a:latin typeface="Calibri" pitchFamily="34" charset="0"/>
                <a:ea typeface="Calibri" pitchFamily="34" charset="-122"/>
                <a:cs typeface="Calibri" pitchFamily="34" charset="-120"/>
              </a:rPr>
              <a:t>Blocks can already carry their own name and mark inside the app. Changing the icon on the home screen needs a separate build step.</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deck/bg-light.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png">    </p:cNvPr>
          <p:cNvPicPr>
            <a:picLocks noChangeAspect="1"/>
          </p:cNvPicPr>
          <p:nvPr/>
        </p:nvPicPr>
        <p:blipFill>
          <a:blip r:embed="rId2"/>
          <a:stretch>
            <a:fillRect/>
          </a:stretch>
        </p:blipFill>
        <p:spPr>
          <a:xfrm>
            <a:off x="11338560" y="384048"/>
            <a:ext cx="402336" cy="402336"/>
          </a:xfrm>
          <a:prstGeom prst="rect">
            <a:avLst/>
          </a:prstGeom>
        </p:spPr>
      </p:pic>
      <p:sp>
        <p:nvSpPr>
          <p:cNvPr id="4" name="Text 0"/>
          <p:cNvSpPr txBox="1"/>
          <p:nvPr/>
        </p:nvSpPr>
        <p:spPr>
          <a:xfrm>
            <a:off x="685800" y="384048"/>
            <a:ext cx="8229600" cy="256032"/>
          </a:xfrm>
          <a:prstGeom prst="rect">
            <a:avLst/>
          </a:prstGeom>
          <a:noFill/>
          <a:ln/>
        </p:spPr>
        <p:txBody>
          <a:bodyPr wrap="square" lIns="0" tIns="0" rIns="0" bIns="0" rtlCol="0" anchor="ctr"/>
          <a:lstStyle/>
          <a:p>
            <a:pPr indent="0" marL="0">
              <a:buNone/>
            </a:pPr>
            <a:r>
              <a:rPr lang="en-US" sz="1200" b="1" spc="160" kern="0" dirty="0">
                <a:solidFill>
                  <a:srgbClr val="B9000E"/>
                </a:solidFill>
                <a:latin typeface="Calibri" pitchFamily="34" charset="0"/>
                <a:ea typeface="Calibri" pitchFamily="34" charset="-122"/>
                <a:cs typeface="Calibri" pitchFamily="34" charset="-120"/>
              </a:rPr>
              <a:t>GETTING STARTED</a:t>
            </a:r>
            <a:endParaRPr lang="en-US" sz="1200" dirty="0"/>
          </a:p>
        </p:txBody>
      </p:sp>
      <p:sp>
        <p:nvSpPr>
          <p:cNvPr id="5" name="Text 1"/>
          <p:cNvSpPr txBox="1"/>
          <p:nvPr/>
        </p:nvSpPr>
        <p:spPr>
          <a:xfrm>
            <a:off x="685800" y="640080"/>
            <a:ext cx="10515600" cy="548640"/>
          </a:xfrm>
          <a:prstGeom prst="rect">
            <a:avLst/>
          </a:prstGeom>
          <a:noFill/>
          <a:ln/>
        </p:spPr>
        <p:txBody>
          <a:bodyPr wrap="square" lIns="0" tIns="0" rIns="0" bIns="0" rtlCol="0" anchor="ctr"/>
          <a:lstStyle/>
          <a:p>
            <a:pPr indent="0" marL="0">
              <a:buNone/>
            </a:pPr>
            <a:r>
              <a:rPr lang="en-US" sz="3200" b="1" dirty="0">
                <a:solidFill>
                  <a:srgbClr val="18181B"/>
                </a:solidFill>
                <a:latin typeface="Calibri" pitchFamily="34" charset="0"/>
                <a:ea typeface="Calibri" pitchFamily="34" charset="-122"/>
                <a:cs typeface="Calibri" pitchFamily="34" charset="-120"/>
              </a:rPr>
              <a:t>From this meeting to first pass in four steps</a:t>
            </a:r>
            <a:endParaRPr lang="en-US" sz="3200" dirty="0"/>
          </a:p>
        </p:txBody>
      </p:sp>
      <p:sp>
        <p:nvSpPr>
          <p:cNvPr id="6" name="Text 2"/>
          <p:cNvSpPr txBox="1"/>
          <p:nvPr/>
        </p:nvSpPr>
        <p:spPr>
          <a:xfrm>
            <a:off x="685800" y="1243584"/>
            <a:ext cx="10241280" cy="384048"/>
          </a:xfrm>
          <a:prstGeom prst="rect">
            <a:avLst/>
          </a:prstGeom>
          <a:noFill/>
          <a:ln/>
        </p:spPr>
        <p:txBody>
          <a:bodyPr wrap="square" lIns="0" tIns="0" rIns="0" bIns="0" rtlCol="0" anchor="ctr"/>
          <a:lstStyle/>
          <a:p>
            <a:pPr indent="0" marL="0">
              <a:buNone/>
            </a:pPr>
            <a:r>
              <a:rPr lang="en-US" sz="1450" dirty="0">
                <a:solidFill>
                  <a:srgbClr val="6B6B76"/>
                </a:solidFill>
                <a:latin typeface="Calibri" pitchFamily="34" charset="0"/>
                <a:ea typeface="Calibri" pitchFamily="34" charset="-122"/>
                <a:cs typeface="Calibri" pitchFamily="34" charset="-120"/>
              </a:rPr>
              <a:t>Nothing here needs new hardware at the gate or a change to how your office already works.</a:t>
            </a:r>
            <a:endParaRPr lang="en-US" sz="1450" dirty="0"/>
          </a:p>
        </p:txBody>
      </p:sp>
      <p:sp>
        <p:nvSpPr>
          <p:cNvPr id="7" name="Shape 3"/>
          <p:cNvSpPr/>
          <p:nvPr/>
        </p:nvSpPr>
        <p:spPr>
          <a:xfrm>
            <a:off x="685800" y="2011680"/>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8" name="Shape 4"/>
          <p:cNvSpPr/>
          <p:nvPr/>
        </p:nvSpPr>
        <p:spPr>
          <a:xfrm>
            <a:off x="914400" y="2221992"/>
            <a:ext cx="603504" cy="603504"/>
          </a:xfrm>
          <a:prstGeom prst="roundRect">
            <a:avLst>
              <a:gd name="adj" fmla="val 21212"/>
            </a:avLst>
          </a:prstGeom>
          <a:solidFill>
            <a:srgbClr val="B9000E"/>
          </a:solidFill>
          <a:ln w="12700">
            <a:solidFill>
              <a:srgbClr val="B9000E"/>
            </a:solidFill>
            <a:prstDash val="solid"/>
          </a:ln>
        </p:spPr>
      </p:sp>
      <p:sp>
        <p:nvSpPr>
          <p:cNvPr id="9" name="Text 5"/>
          <p:cNvSpPr txBox="1"/>
          <p:nvPr/>
        </p:nvSpPr>
        <p:spPr>
          <a:xfrm>
            <a:off x="914400" y="2331720"/>
            <a:ext cx="603504"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6"/>
          <p:cNvSpPr txBox="1"/>
          <p:nvPr/>
        </p:nvSpPr>
        <p:spPr>
          <a:xfrm>
            <a:off x="1691640" y="2221992"/>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Point it at your campus</a:t>
            </a:r>
            <a:endParaRPr lang="en-US" sz="1550" dirty="0"/>
          </a:p>
        </p:txBody>
      </p:sp>
      <p:sp>
        <p:nvSpPr>
          <p:cNvPr id="11" name="Text 7"/>
          <p:cNvSpPr txBox="1"/>
          <p:nvPr/>
        </p:nvSpPr>
        <p:spPr>
          <a:xfrm>
            <a:off x="4434840" y="2221992"/>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We connect the app to your backend and load your sites, hostels, blocks and staff. Categories and curfew windows are set to your rules.</a:t>
            </a:r>
            <a:endParaRPr lang="en-US" sz="1200" dirty="0"/>
          </a:p>
        </p:txBody>
      </p:sp>
      <p:sp>
        <p:nvSpPr>
          <p:cNvPr id="12" name="Shape 8"/>
          <p:cNvSpPr/>
          <p:nvPr/>
        </p:nvSpPr>
        <p:spPr>
          <a:xfrm>
            <a:off x="685800" y="3182112"/>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3" name="Shape 9"/>
          <p:cNvSpPr/>
          <p:nvPr/>
        </p:nvSpPr>
        <p:spPr>
          <a:xfrm>
            <a:off x="914400" y="3392424"/>
            <a:ext cx="603504" cy="603504"/>
          </a:xfrm>
          <a:prstGeom prst="roundRect">
            <a:avLst>
              <a:gd name="adj" fmla="val 21212"/>
            </a:avLst>
          </a:prstGeom>
          <a:solidFill>
            <a:srgbClr val="B9000E"/>
          </a:solidFill>
          <a:ln w="12700">
            <a:solidFill>
              <a:srgbClr val="B9000E"/>
            </a:solidFill>
            <a:prstDash val="solid"/>
          </a:ln>
        </p:spPr>
      </p:sp>
      <p:sp>
        <p:nvSpPr>
          <p:cNvPr id="14" name="Text 10"/>
          <p:cNvSpPr txBox="1"/>
          <p:nvPr/>
        </p:nvSpPr>
        <p:spPr>
          <a:xfrm>
            <a:off x="914400" y="3502152"/>
            <a:ext cx="603504"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1"/>
          <p:cNvSpPr txBox="1"/>
          <p:nvPr/>
        </p:nvSpPr>
        <p:spPr>
          <a:xfrm>
            <a:off x="1691640" y="3392424"/>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Import the register</a:t>
            </a:r>
            <a:endParaRPr lang="en-US" sz="1550" dirty="0"/>
          </a:p>
        </p:txBody>
      </p:sp>
      <p:sp>
        <p:nvSpPr>
          <p:cNvPr id="16" name="Text 12"/>
          <p:cNvSpPr txBox="1"/>
          <p:nvPr/>
        </p:nvSpPr>
        <p:spPr>
          <a:xfrm>
            <a:off x="4434840" y="3392424"/>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Students, rooms and guardian phone numbers come across from what your office already keeps. Accounts are created with office-issued passwords.</a:t>
            </a:r>
            <a:endParaRPr lang="en-US" sz="1200" dirty="0"/>
          </a:p>
        </p:txBody>
      </p:sp>
      <p:sp>
        <p:nvSpPr>
          <p:cNvPr id="17" name="Shape 13"/>
          <p:cNvSpPr/>
          <p:nvPr/>
        </p:nvSpPr>
        <p:spPr>
          <a:xfrm>
            <a:off x="685800" y="4352544"/>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18" name="Shape 14"/>
          <p:cNvSpPr/>
          <p:nvPr/>
        </p:nvSpPr>
        <p:spPr>
          <a:xfrm>
            <a:off x="914400" y="4562856"/>
            <a:ext cx="603504" cy="603504"/>
          </a:xfrm>
          <a:prstGeom prst="roundRect">
            <a:avLst>
              <a:gd name="adj" fmla="val 21212"/>
            </a:avLst>
          </a:prstGeom>
          <a:solidFill>
            <a:srgbClr val="B9000E"/>
          </a:solidFill>
          <a:ln w="12700">
            <a:solidFill>
              <a:srgbClr val="B9000E"/>
            </a:solidFill>
            <a:prstDash val="solid"/>
          </a:ln>
        </p:spPr>
      </p:sp>
      <p:sp>
        <p:nvSpPr>
          <p:cNvPr id="19" name="Text 15"/>
          <p:cNvSpPr txBox="1"/>
          <p:nvPr/>
        </p:nvSpPr>
        <p:spPr>
          <a:xfrm>
            <a:off x="914400" y="4672584"/>
            <a:ext cx="603504"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6"/>
          <p:cNvSpPr txBox="1"/>
          <p:nvPr/>
        </p:nvSpPr>
        <p:spPr>
          <a:xfrm>
            <a:off x="1691640" y="4562856"/>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Pilot one block</a:t>
            </a:r>
            <a:endParaRPr lang="en-US" sz="1550" dirty="0"/>
          </a:p>
        </p:txBody>
      </p:sp>
      <p:sp>
        <p:nvSpPr>
          <p:cNvPr id="21" name="Text 17"/>
          <p:cNvSpPr txBox="1"/>
          <p:nvPr/>
        </p:nvSpPr>
        <p:spPr>
          <a:xfrm>
            <a:off x="4434840" y="4562856"/>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One hostel, one warden, two weeks. Everyone else carries on as they are, so there is nothing to roll back.</a:t>
            </a:r>
            <a:endParaRPr lang="en-US" sz="1200" dirty="0"/>
          </a:p>
        </p:txBody>
      </p:sp>
      <p:sp>
        <p:nvSpPr>
          <p:cNvPr id="22" name="Shape 18"/>
          <p:cNvSpPr/>
          <p:nvPr/>
        </p:nvSpPr>
        <p:spPr>
          <a:xfrm>
            <a:off x="685800" y="5522976"/>
            <a:ext cx="10789920" cy="1033272"/>
          </a:xfrm>
          <a:prstGeom prst="roundRect">
            <a:avLst>
              <a:gd name="adj" fmla="val 14159"/>
            </a:avLst>
          </a:prstGeom>
          <a:solidFill>
            <a:srgbClr val="FFFFFF"/>
          </a:solidFill>
          <a:ln w="9525">
            <a:solidFill>
              <a:srgbClr val="E4E4E7"/>
            </a:solidFill>
            <a:prstDash val="solid"/>
          </a:ln>
          <a:effectLst>
            <a:outerShdw sx="100000" sy="100000" kx="0" ky="0" algn="bl" rotWithShape="0" blurRad="203200" dist="50800" dir="5400000">
              <a:srgbClr val="0B0B12">
                <a:alpha val="9000"/>
              </a:srgbClr>
            </a:outerShdw>
          </a:effectLst>
        </p:spPr>
      </p:sp>
      <p:sp>
        <p:nvSpPr>
          <p:cNvPr id="23" name="Shape 19"/>
          <p:cNvSpPr/>
          <p:nvPr/>
        </p:nvSpPr>
        <p:spPr>
          <a:xfrm>
            <a:off x="914400" y="5733288"/>
            <a:ext cx="603504" cy="603504"/>
          </a:xfrm>
          <a:prstGeom prst="roundRect">
            <a:avLst>
              <a:gd name="adj" fmla="val 21212"/>
            </a:avLst>
          </a:prstGeom>
          <a:solidFill>
            <a:srgbClr val="B9000E"/>
          </a:solidFill>
          <a:ln w="12700">
            <a:solidFill>
              <a:srgbClr val="B9000E"/>
            </a:solidFill>
            <a:prstDash val="solid"/>
          </a:ln>
        </p:spPr>
      </p:sp>
      <p:sp>
        <p:nvSpPr>
          <p:cNvPr id="24" name="Text 20"/>
          <p:cNvSpPr txBox="1"/>
          <p:nvPr/>
        </p:nvSpPr>
        <p:spPr>
          <a:xfrm>
            <a:off x="914400" y="5843016"/>
            <a:ext cx="603504"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1"/>
          <p:cNvSpPr txBox="1"/>
          <p:nvPr/>
        </p:nvSpPr>
        <p:spPr>
          <a:xfrm>
            <a:off x="1691640" y="5733288"/>
            <a:ext cx="2606040" cy="603504"/>
          </a:xfrm>
          <a:prstGeom prst="rect">
            <a:avLst/>
          </a:prstGeom>
          <a:noFill/>
          <a:ln/>
        </p:spPr>
        <p:txBody>
          <a:bodyPr wrap="square" lIns="0" tIns="0" rIns="0" bIns="0" rtlCol="0" anchor="ctr"/>
          <a:lstStyle/>
          <a:p>
            <a:pPr indent="0" marL="0">
              <a:buNone/>
            </a:pPr>
            <a:r>
              <a:rPr lang="en-US" sz="1550" b="1" dirty="0">
                <a:solidFill>
                  <a:srgbClr val="18181B"/>
                </a:solidFill>
                <a:latin typeface="Calibri" pitchFamily="34" charset="0"/>
                <a:ea typeface="Calibri" pitchFamily="34" charset="-122"/>
                <a:cs typeface="Calibri" pitchFamily="34" charset="-120"/>
              </a:rPr>
              <a:t>Open it up</a:t>
            </a:r>
            <a:endParaRPr lang="en-US" sz="1550" dirty="0"/>
          </a:p>
        </p:txBody>
      </p:sp>
      <p:sp>
        <p:nvSpPr>
          <p:cNvPr id="26" name="Text 22"/>
          <p:cNvSpPr txBox="1"/>
          <p:nvPr/>
        </p:nvSpPr>
        <p:spPr>
          <a:xfrm>
            <a:off x="4434840" y="5733288"/>
            <a:ext cx="6812280" cy="603504"/>
          </a:xfrm>
          <a:prstGeom prst="rect">
            <a:avLst/>
          </a:prstGeom>
          <a:noFill/>
          <a:ln/>
        </p:spPr>
        <p:txBody>
          <a:bodyPr wrap="square" lIns="0" tIns="0" rIns="0" bIns="0" rtlCol="0" anchor="ctr"/>
          <a:lstStyle/>
          <a:p>
            <a:pPr indent="0" marL="0">
              <a:lnSpc>
                <a:spcPts val="1600"/>
              </a:lnSpc>
              <a:buNone/>
            </a:pPr>
            <a:r>
              <a:rPr lang="en-US" sz="1200" dirty="0">
                <a:solidFill>
                  <a:srgbClr val="6B6B76"/>
                </a:solidFill>
                <a:latin typeface="Calibri" pitchFamily="34" charset="0"/>
                <a:ea typeface="Calibri" pitchFamily="34" charset="-122"/>
                <a:cs typeface="Calibri" pitchFamily="34" charset="-120"/>
              </a:rPr>
              <a:t>Hand out the app, brief the wardens for an hour, and retire the register book. Guardians need no training — they get a notification and two buttons.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deck/bg-dark.png">    </p:cNvPr>
          <p:cNvPicPr>
            <a:picLocks noChangeAspect="1"/>
          </p:cNvPicPr>
          <p:nvPr/>
        </p:nvPicPr>
        <p:blipFill>
          <a:blip r:embed="rId1"/>
          <a:stretch>
            <a:fillRect/>
          </a:stretch>
        </p:blipFill>
        <p:spPr>
          <a:xfrm>
            <a:off x="0" y="0"/>
            <a:ext cx="12161520" cy="6858000"/>
          </a:xfrm>
          <a:prstGeom prst="rect">
            <a:avLst/>
          </a:prstGeom>
        </p:spPr>
      </p:pic>
      <p:pic>
        <p:nvPicPr>
          <p:cNvPr id="3" name="Image 1" descr="/home/claude/deck/logo-white.png">    </p:cNvPr>
          <p:cNvPicPr>
            <a:picLocks noChangeAspect="1"/>
          </p:cNvPicPr>
          <p:nvPr/>
        </p:nvPicPr>
        <p:blipFill>
          <a:blip r:embed="rId2"/>
          <a:stretch>
            <a:fillRect/>
          </a:stretch>
        </p:blipFill>
        <p:spPr>
          <a:xfrm>
            <a:off x="868680" y="1371600"/>
            <a:ext cx="868680" cy="868680"/>
          </a:xfrm>
          <a:prstGeom prst="rect">
            <a:avLst/>
          </a:prstGeom>
        </p:spPr>
      </p:pic>
      <p:sp>
        <p:nvSpPr>
          <p:cNvPr id="4" name="Text 0"/>
          <p:cNvSpPr txBox="1"/>
          <p:nvPr/>
        </p:nvSpPr>
        <p:spPr>
          <a:xfrm>
            <a:off x="822960" y="2487168"/>
            <a:ext cx="8229600" cy="7772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Every pass accounted for.</a:t>
            </a:r>
            <a:endParaRPr lang="en-US" sz="4600" dirty="0"/>
          </a:p>
        </p:txBody>
      </p:sp>
      <p:sp>
        <p:nvSpPr>
          <p:cNvPr id="5" name="Text 1"/>
          <p:cNvSpPr txBox="1"/>
          <p:nvPr/>
        </p:nvSpPr>
        <p:spPr>
          <a:xfrm>
            <a:off x="868680" y="3364992"/>
            <a:ext cx="6766560" cy="914400"/>
          </a:xfrm>
          <a:prstGeom prst="rect">
            <a:avLst/>
          </a:prstGeom>
          <a:noFill/>
          <a:ln/>
        </p:spPr>
        <p:txBody>
          <a:bodyPr wrap="square" lIns="0" tIns="0" rIns="0" bIns="0" rtlCol="0" anchor="ctr"/>
          <a:lstStyle/>
          <a:p>
            <a:pPr indent="0" marL="0">
              <a:lnSpc>
                <a:spcPts val="2500"/>
              </a:lnSpc>
              <a:buNone/>
            </a:pPr>
            <a:r>
              <a:rPr lang="en-US" sz="1600" dirty="0">
                <a:solidFill>
                  <a:srgbClr val="C9C9CF"/>
                </a:solidFill>
                <a:latin typeface="Calibri" pitchFamily="34" charset="0"/>
                <a:ea typeface="Calibri" pitchFamily="34" charset="-122"/>
                <a:cs typeface="Calibri" pitchFamily="34" charset="-120"/>
              </a:rPr>
              <a:t>The student knows where the request stands. The guardian decides from wherever they are. The office can prove what happened.</a:t>
            </a:r>
            <a:endParaRPr lang="en-US" sz="1600" dirty="0"/>
          </a:p>
        </p:txBody>
      </p:sp>
      <p:pic>
        <p:nvPicPr>
          <p:cNvPr id="6" name="Image 2" descr="/home/claude/deck/icons/chev-w.png">    </p:cNvPr>
          <p:cNvPicPr>
            <a:picLocks noChangeAspect="1"/>
          </p:cNvPicPr>
          <p:nvPr/>
        </p:nvPicPr>
        <p:blipFill>
          <a:blip r:embed="rId3"/>
          <a:stretch>
            <a:fillRect/>
          </a:stretch>
        </p:blipFill>
        <p:spPr>
          <a:xfrm>
            <a:off x="896112" y="4608576"/>
            <a:ext cx="201168" cy="201168"/>
          </a:xfrm>
          <a:prstGeom prst="rect">
            <a:avLst/>
          </a:prstGeom>
        </p:spPr>
      </p:pic>
      <p:sp>
        <p:nvSpPr>
          <p:cNvPr id="7" name="Text 2"/>
          <p:cNvSpPr txBox="1"/>
          <p:nvPr/>
        </p:nvSpPr>
        <p:spPr>
          <a:xfrm>
            <a:off x="1207008" y="4553712"/>
            <a:ext cx="5943600" cy="310896"/>
          </a:xfrm>
          <a:prstGeom prst="rect">
            <a:avLst/>
          </a:prstGeom>
          <a:noFill/>
          <a:ln/>
        </p:spPr>
        <p:txBody>
          <a:bodyPr wrap="square" lIns="0" tIns="0" rIns="0" bIns="0" rtlCol="0" anchor="ctr"/>
          <a:lstStyle/>
          <a:p>
            <a:pPr indent="0" marL="0">
              <a:buNone/>
            </a:pPr>
            <a:r>
              <a:rPr lang="en-US" sz="1500" b="1" dirty="0">
                <a:solidFill>
                  <a:srgbClr val="F4D3D5"/>
                </a:solidFill>
                <a:latin typeface="Calibri" pitchFamily="34" charset="0"/>
                <a:ea typeface="Calibri" pitchFamily="34" charset="-122"/>
                <a:cs typeface="Calibri" pitchFamily="34" charset="-120"/>
              </a:rPr>
              <a:t>Pilot one block for two weeks</a:t>
            </a:r>
            <a:endParaRPr lang="en-US" sz="1500" dirty="0"/>
          </a:p>
        </p:txBody>
      </p:sp>
      <p:pic>
        <p:nvPicPr>
          <p:cNvPr id="8" name="Image 3" descr="/home/claude/deck/icons/chev-w.png">    </p:cNvPr>
          <p:cNvPicPr>
            <a:picLocks noChangeAspect="1"/>
          </p:cNvPicPr>
          <p:nvPr/>
        </p:nvPicPr>
        <p:blipFill>
          <a:blip r:embed="rId4"/>
          <a:stretch>
            <a:fillRect/>
          </a:stretch>
        </p:blipFill>
        <p:spPr>
          <a:xfrm>
            <a:off x="896112" y="5065776"/>
            <a:ext cx="201168" cy="201168"/>
          </a:xfrm>
          <a:prstGeom prst="rect">
            <a:avLst/>
          </a:prstGeom>
        </p:spPr>
      </p:pic>
      <p:sp>
        <p:nvSpPr>
          <p:cNvPr id="9" name="Text 3"/>
          <p:cNvSpPr txBox="1"/>
          <p:nvPr/>
        </p:nvSpPr>
        <p:spPr>
          <a:xfrm>
            <a:off x="1207008" y="5010912"/>
            <a:ext cx="5943600" cy="310896"/>
          </a:xfrm>
          <a:prstGeom prst="rect">
            <a:avLst/>
          </a:prstGeom>
          <a:noFill/>
          <a:ln/>
        </p:spPr>
        <p:txBody>
          <a:bodyPr wrap="square" lIns="0" tIns="0" rIns="0" bIns="0" rtlCol="0" anchor="ctr"/>
          <a:lstStyle/>
          <a:p>
            <a:pPr indent="0" marL="0">
              <a:buNone/>
            </a:pPr>
            <a:r>
              <a:rPr lang="en-US" sz="1500" b="1" dirty="0">
                <a:solidFill>
                  <a:srgbClr val="F4D3D5"/>
                </a:solidFill>
                <a:latin typeface="Calibri" pitchFamily="34" charset="0"/>
                <a:ea typeface="Calibri" pitchFamily="34" charset="-122"/>
                <a:cs typeface="Calibri" pitchFamily="34" charset="-120"/>
              </a:rPr>
              <a:t>A working session with your hostel office</a:t>
            </a:r>
            <a:endParaRPr lang="en-US" sz="1500" dirty="0"/>
          </a:p>
        </p:txBody>
      </p:sp>
      <p:pic>
        <p:nvPicPr>
          <p:cNvPr id="10" name="Image 4" descr="/home/claude/deck/icons/chev-w.png">    </p:cNvPr>
          <p:cNvPicPr>
            <a:picLocks noChangeAspect="1"/>
          </p:cNvPicPr>
          <p:nvPr/>
        </p:nvPicPr>
        <p:blipFill>
          <a:blip r:embed="rId5"/>
          <a:stretch>
            <a:fillRect/>
          </a:stretch>
        </p:blipFill>
        <p:spPr>
          <a:xfrm>
            <a:off x="896112" y="5522976"/>
            <a:ext cx="201168" cy="201168"/>
          </a:xfrm>
          <a:prstGeom prst="rect">
            <a:avLst/>
          </a:prstGeom>
        </p:spPr>
      </p:pic>
      <p:sp>
        <p:nvSpPr>
          <p:cNvPr id="11" name="Text 4"/>
          <p:cNvSpPr txBox="1"/>
          <p:nvPr/>
        </p:nvSpPr>
        <p:spPr>
          <a:xfrm>
            <a:off x="1207008" y="5468112"/>
            <a:ext cx="5943600" cy="310896"/>
          </a:xfrm>
          <a:prstGeom prst="rect">
            <a:avLst/>
          </a:prstGeom>
          <a:noFill/>
          <a:ln/>
        </p:spPr>
        <p:txBody>
          <a:bodyPr wrap="square" lIns="0" tIns="0" rIns="0" bIns="0" rtlCol="0" anchor="ctr"/>
          <a:lstStyle/>
          <a:p>
            <a:pPr indent="0" marL="0">
              <a:buNone/>
            </a:pPr>
            <a:r>
              <a:rPr lang="en-US" sz="1500" b="1" dirty="0">
                <a:solidFill>
                  <a:srgbClr val="F4D3D5"/>
                </a:solidFill>
                <a:latin typeface="Calibri" pitchFamily="34" charset="0"/>
                <a:ea typeface="Calibri" pitchFamily="34" charset="-122"/>
                <a:cs typeface="Calibri" pitchFamily="34" charset="-120"/>
              </a:rPr>
              <a:t>Questions, in any order</a:t>
            </a:r>
            <a:endParaRPr lang="en-US" sz="1500" dirty="0"/>
          </a:p>
        </p:txBody>
      </p:sp>
      <p:pic>
        <p:nvPicPr>
          <p:cNvPr id="12" name="Image 5" descr="/home/claude/deck/mock/parent-queue.png">    </p:cNvPr>
          <p:cNvPicPr>
            <a:picLocks noChangeAspect="1"/>
          </p:cNvPicPr>
          <p:nvPr/>
        </p:nvPicPr>
        <p:blipFill>
          <a:blip r:embed="rId6"/>
          <a:stretch>
            <a:fillRect/>
          </a:stretch>
        </p:blipFill>
        <p:spPr>
          <a:xfrm>
            <a:off x="8686800" y="960120"/>
            <a:ext cx="2606040" cy="5349240"/>
          </a:xfrm>
          <a:prstGeom prst="rect">
            <a:avLst/>
          </a:prstGeom>
        </p:spPr>
      </p:pic>
      <p:sp>
        <p:nvSpPr>
          <p:cNvPr id="13" name="Text 5"/>
          <p:cNvSpPr txBox="1"/>
          <p:nvPr/>
        </p:nvSpPr>
        <p:spPr>
          <a:xfrm>
            <a:off x="868680" y="6053328"/>
            <a:ext cx="3657600" cy="365760"/>
          </a:xfrm>
          <a:prstGeom prst="rect">
            <a:avLst/>
          </a:prstGeom>
          <a:noFill/>
          <a:ln/>
        </p:spPr>
        <p:txBody>
          <a:bodyPr wrap="square" lIns="0" tIns="0" rIns="0" bIns="0" rtlCol="0" anchor="ctr"/>
          <a:lstStyle/>
          <a:p>
            <a:pPr indent="0" marL="0">
              <a:buNone/>
            </a:pPr>
            <a:r>
              <a:rPr lang="en-US" sz="1600" b="1" dirty="0">
                <a:solidFill>
                  <a:srgbClr val="8A8A93"/>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Iverto.ai — Hostel Outpass</dc:title>
  <dc:subject>PptxGenJS Presentation</dc:subject>
  <dc:creator>Iverto.ai</dc:creator>
  <cp:lastModifiedBy>Iverto.ai</cp:lastModifiedBy>
  <cp:revision>1</cp:revision>
  <dcterms:created xsi:type="dcterms:W3CDTF">2026-08-26T08:53:57Z</dcterms:created>
  <dcterms:modified xsi:type="dcterms:W3CDTF">2026-08-26T08:53:57Z</dcterms:modified>
</cp:coreProperties>
</file>